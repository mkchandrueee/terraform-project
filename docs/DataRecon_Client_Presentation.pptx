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context. One line: DataRecon proves that migrated data is complete and correct, and produces the evidence you can sign off on. Agenda: the problem, what the tool does, a live demo on your own data, security and scope, next steps. About 25-30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pain. Row counts match but the data is still wrong. These six examples are classic migration defects that count-only checks and hand-written SQL miss. Manual checks are also slow, inconsistent between people, and leave no proof. Ask the audience which of these they have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summary. Source on the left, either a file or a SQL query. DataRecon matches rows by business key, so ordering after a migration does not matter. On the right you get a verdict, a status for every row, an explanation of why rows differ, and a downloadable evidence report. Three principles: it runs locally, it is deterministic (same input gives the same result), and it uses no external AI service, so data never leaves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side can be a file or a SQL query. That covers file to table, table to table and file to file. Files: CSV, TXT, TSV, Excel, Parquet. Databases: PostgreSQL, SQL Server, MySQL and SQLite. For other systems, export to CSV or Parquet and compare as files. Only SELECT or WITH queries are accepted, and we recommend a read-only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checks into four ideas. Structure: do the columns and types line up. Completeness: are all rows and values present, including NULL handling and a completeness score. Correctness: are the values right, including duplicates and aggregations such as sums and min/max on critical columns. Insight: value distributions and per-group counts, which catch code remapping and skewed loads. Row-count tolerance can be absolute or a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tool. After matching on the business key, every row is Matched, Mismatch, Missing in target or Extra in target. Differing cells are red, missing and extra rows are yellow, and NULLs are shown in italics. Order does not matter. Duplicate keys are paired by occurrence and listed separately. The image is a real output on illustrative sample data, not client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mismatch count is usually a handful of root causes. DataRecon checks every differing row, not a sample, and only states a cause when it holds for all of them. If there is no uniform cause it says so instead of guessing. Where it maps to a rule, such as trim whitespace or ignore case, it tells you which setting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Migrations often change how 'no value' is written: a legacy system writes N/A, the new one stores NULL. DataRecon treats real NULLs, blank text and a configurable list of tokens as NULL, so those are not false alarms. A details table shows, per column and side, how many were real NULLs, blanks and tokens. Genuine nulling is flagged: NULL becoming a value, or a value becoming NULL. NA is not a default token because it can be a real value, for example a country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result carries run information: a run ID, the time, who ran it, and the exact source and target SQL as executed, plus the rules used and SHA-256 hashes of files and SQL. Passwords are never included. You get an Excel report with colour highlighting, a CSV zip, a JSON summary and a self-contained HTML evidence report that mirrors the app screen. Open the HTML in a browser and print to PDF for a PDF copy. The image is a sample on illustrative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big tables there is a Full data validation only mode that skips profiling, data types and aggregations and runs just the row-level comparison. Matched rows are counted rather than listed, which keeps results and exports small. Reports are built only when you click download. For very large tables, compare by partition, for example by date or key range, using the SQL. We do not quote timings here: run times depend on data shape and hardware, and we measure them on your environment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both columns. In place: it runs on the local machine, saved passwords are encrypted, and passwords never appear in any report. The encryption protects against casual reading of the profile file; someone with access to both the profile and key files could decrypt it, so use read-only database accounts. Not in this version: scheduling and notifications, referential-integrity orphan checks, comparison of declared catalog column types and precision, and multi-user server deployment. Offer to discuss any of these as follow-ups.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six steps on your own data. 1) Show a saved connection and note the password is encrypted. 2) Load source and target, paste the two queries and press Load data. 3) Choose the key columns, ignore audit columns, review the NULL tokens, and save the rule set. 4) Run the comparison and read it in order: Checks, Why rows differ, Full data comparison. 5) Drill into duplicates, NULL details and aggregations, and explain one real finding in business terms. 6) Show run information with both SQL statements, then download the HTML evidence report and the Excel report. Finish by ticking Full data validation only and rerunning.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ask. Propose a pilot on the next migration wave, agree the rule set per table (keys, ignored columns, NULL tokens, tolerances), add the evidence report to the sign-off checklist, and agree how long evidence is retained. Ask which table or wave to start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DataRecon  |  Data migration validation</a:t>
            </a:r>
            <a:endParaRPr lang="en-US" sz="10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822960" y="2011680"/>
            <a:ext cx="8686800" cy="137160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4" name="Text 1"/>
          <p:cNvSpPr/>
          <p:nvPr>
            <p:ph idx="102" type="body" hasCustomPrompt="1"/>
          </p:nvPr>
        </p:nvSpPr>
        <p:spPr>
          <a:xfrm>
            <a:off x="822960" y="3566160"/>
            <a:ext cx="8686800" cy="1097280"/>
          </a:xfrm>
          <a:prstGeom prst="rect">
            <a:avLst/>
          </a:prstGeom>
          <a:noFill/>
          <a:ln/>
        </p:spPr>
        <p:txBody>
          <a:bodyPr wrap="square" rtlCol="0"/>
          <a:lstStyle>
            <a:lvl1pPr indent="0" marL="0">
              <a:buNone/>
              <a:defRPr lang="en-US" sz="2200" dirty="0">
                <a:solidFill>
                  <a:schemeClr val="bg2"/>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365760"/>
            <a:ext cx="11091672"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822960" y="2011680"/>
            <a:ext cx="8686800" cy="137160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DataRecon</a:t>
            </a:r>
            <a:endParaRPr lang="en-US" sz="5400" dirty="0"/>
          </a:p>
        </p:txBody>
      </p:sp>
      <p:sp>
        <p:nvSpPr>
          <p:cNvPr id="3" name="Text 1"/>
          <p:cNvSpPr/>
          <p:nvPr>
            <p:ph idx="102" type="body" hasCustomPrompt="1"/>
          </p:nvPr>
        </p:nvSpPr>
        <p:spPr>
          <a:xfrm>
            <a:off x="822960" y="3566160"/>
            <a:ext cx="8686800" cy="109728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Data migration validation and evidence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Matching row counts don't prove success</a:t>
            </a:r>
            <a:endParaRPr lang="en-US" sz="3200" dirty="0"/>
          </a:p>
        </p:txBody>
      </p:sp>
      <p:sp>
        <p:nvSpPr>
          <p:cNvPr id="4" name="Truncated values card"/>
          <p:cNvSpPr/>
          <p:nvPr/>
        </p:nvSpPr>
        <p:spPr>
          <a:xfrm>
            <a:off x="548640" y="1463040"/>
            <a:ext cx="5440680" cy="1280160"/>
          </a:xfrm>
          <a:prstGeom prst="roundRect">
            <a:avLst>
              <a:gd name="adj" fmla="val 5714"/>
            </a:avLst>
          </a:prstGeom>
          <a:solidFill>
            <a:schemeClr val="bg2"/>
          </a:solidFill>
          <a:ln w="12700">
            <a:solidFill>
              <a:schemeClr val="bg2"/>
            </a:solidFill>
            <a:prstDash val="solid"/>
          </a:ln>
        </p:spPr>
      </p:sp>
      <p:sp>
        <p:nvSpPr>
          <p:cNvPr id="5" name="Truncated values icon circle"/>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6" name="Image 0" descr="Truncated values">    </p:cNvPr>
          <p:cNvPicPr>
            <a:picLocks noChangeAspect="1"/>
          </p:cNvPicPr>
          <p:nvPr/>
        </p:nvPicPr>
        <p:blipFill>
          <a:blip r:embed="rId1"/>
          <a:stretch>
            <a:fillRect/>
          </a:stretch>
        </p:blipFill>
        <p:spPr>
          <a:xfrm>
            <a:off x="937260" y="1851660"/>
            <a:ext cx="320040" cy="320040"/>
          </a:xfrm>
          <a:prstGeom prst="rect">
            <a:avLst/>
          </a:prstGeom>
        </p:spPr>
      </p:pic>
      <p:sp>
        <p:nvSpPr>
          <p:cNvPr id="7" name="Truncated values title"/>
          <p:cNvSpPr txBox="1"/>
          <p:nvPr/>
        </p:nvSpPr>
        <p:spPr>
          <a:xfrm>
            <a:off x="1600200" y="164592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Truncated values</a:t>
            </a:r>
            <a:endParaRPr lang="en-US" sz="1800" dirty="0"/>
          </a:p>
        </p:txBody>
      </p:sp>
      <p:sp>
        <p:nvSpPr>
          <p:cNvPr id="8" name="Truncated values text"/>
          <p:cNvSpPr txBox="1"/>
          <p:nvPr/>
        </p:nvSpPr>
        <p:spPr>
          <a:xfrm>
            <a:off x="1600200" y="2057400"/>
            <a:ext cx="4206240" cy="548640"/>
          </a:xfrm>
          <a:prstGeom prst="rect">
            <a:avLst/>
          </a:prstGeom>
          <a:noFill/>
          <a:ln/>
        </p:spPr>
        <p:txBody>
          <a:bodyPr wrap="square" lIns="0" tIns="0" rIns="0" bIns="0" rtlCol="0" anchor="t"/>
          <a:lstStyle/>
          <a:p>
            <a:pPr indent="0" marL="0">
              <a:buNone/>
            </a:pPr>
            <a:r>
              <a:rPr lang="en-US" sz="1400" dirty="0">
                <a:solidFill>
                  <a:schemeClr val="tx1"/>
                </a:solidFill>
              </a:rPr>
              <a:t>Phone numbers cut to 10 characters</a:t>
            </a:r>
            <a:endParaRPr lang="en-US" sz="1400" dirty="0"/>
          </a:p>
        </p:txBody>
      </p:sp>
      <p:sp>
        <p:nvSpPr>
          <p:cNvPr id="9" name="Scale errors card"/>
          <p:cNvSpPr/>
          <p:nvPr/>
        </p:nvSpPr>
        <p:spPr>
          <a:xfrm>
            <a:off x="6172200" y="1463040"/>
            <a:ext cx="5440680" cy="1280160"/>
          </a:xfrm>
          <a:prstGeom prst="roundRect">
            <a:avLst>
              <a:gd name="adj" fmla="val 5714"/>
            </a:avLst>
          </a:prstGeom>
          <a:solidFill>
            <a:schemeClr val="bg2"/>
          </a:solidFill>
          <a:ln w="12700">
            <a:solidFill>
              <a:schemeClr val="bg2"/>
            </a:solidFill>
            <a:prstDash val="solid"/>
          </a:ln>
        </p:spPr>
      </p:sp>
      <p:sp>
        <p:nvSpPr>
          <p:cNvPr id="10" name="Scale errors icon circle"/>
          <p:cNvSpPr/>
          <p:nvPr/>
        </p:nvSpPr>
        <p:spPr>
          <a:xfrm>
            <a:off x="6400800" y="1691640"/>
            <a:ext cx="640080" cy="640080"/>
          </a:xfrm>
          <a:prstGeom prst="ellipse">
            <a:avLst/>
          </a:prstGeom>
          <a:solidFill>
            <a:schemeClr val="accent1"/>
          </a:solidFill>
          <a:ln w="12700">
            <a:solidFill>
              <a:schemeClr val="accent1"/>
            </a:solidFill>
            <a:prstDash val="solid"/>
          </a:ln>
        </p:spPr>
      </p:sp>
      <p:pic>
        <p:nvPicPr>
          <p:cNvPr id="11" name="Image 1" descr="Scale errors">    </p:cNvPr>
          <p:cNvPicPr>
            <a:picLocks noChangeAspect="1"/>
          </p:cNvPicPr>
          <p:nvPr/>
        </p:nvPicPr>
        <p:blipFill>
          <a:blip r:embed="rId2"/>
          <a:stretch>
            <a:fillRect/>
          </a:stretch>
        </p:blipFill>
        <p:spPr>
          <a:xfrm>
            <a:off x="6560820" y="1851660"/>
            <a:ext cx="320040" cy="320040"/>
          </a:xfrm>
          <a:prstGeom prst="rect">
            <a:avLst/>
          </a:prstGeom>
        </p:spPr>
      </p:pic>
      <p:sp>
        <p:nvSpPr>
          <p:cNvPr id="12" name="Scale errors title"/>
          <p:cNvSpPr txBox="1"/>
          <p:nvPr/>
        </p:nvSpPr>
        <p:spPr>
          <a:xfrm>
            <a:off x="7223760" y="164592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Scale errors</a:t>
            </a:r>
            <a:endParaRPr lang="en-US" sz="1800" dirty="0"/>
          </a:p>
        </p:txBody>
      </p:sp>
      <p:sp>
        <p:nvSpPr>
          <p:cNvPr id="13" name="Scale errors text"/>
          <p:cNvSpPr txBox="1"/>
          <p:nvPr/>
        </p:nvSpPr>
        <p:spPr>
          <a:xfrm>
            <a:off x="7223760" y="2057400"/>
            <a:ext cx="4206240" cy="548640"/>
          </a:xfrm>
          <a:prstGeom prst="rect">
            <a:avLst/>
          </a:prstGeom>
          <a:noFill/>
          <a:ln/>
        </p:spPr>
        <p:txBody>
          <a:bodyPr wrap="square" lIns="0" tIns="0" rIns="0" bIns="0" rtlCol="0" anchor="t"/>
          <a:lstStyle/>
          <a:p>
            <a:pPr indent="0" marL="0">
              <a:buNone/>
            </a:pPr>
            <a:r>
              <a:rPr lang="en-US" sz="1400" dirty="0">
                <a:solidFill>
                  <a:schemeClr val="tx1"/>
                </a:solidFill>
              </a:rPr>
              <a:t>Amounts multiplied by 100 after a units change</a:t>
            </a:r>
            <a:endParaRPr lang="en-US" sz="1400" dirty="0"/>
          </a:p>
        </p:txBody>
      </p:sp>
      <p:sp>
        <p:nvSpPr>
          <p:cNvPr id="14" name="NULL vs 'N/A' card"/>
          <p:cNvSpPr/>
          <p:nvPr/>
        </p:nvSpPr>
        <p:spPr>
          <a:xfrm>
            <a:off x="548640" y="2880360"/>
            <a:ext cx="5440680" cy="1280160"/>
          </a:xfrm>
          <a:prstGeom prst="roundRect">
            <a:avLst>
              <a:gd name="adj" fmla="val 5714"/>
            </a:avLst>
          </a:prstGeom>
          <a:solidFill>
            <a:schemeClr val="bg2"/>
          </a:solidFill>
          <a:ln w="12700">
            <a:solidFill>
              <a:schemeClr val="bg2"/>
            </a:solidFill>
            <a:prstDash val="solid"/>
          </a:ln>
        </p:spPr>
      </p:sp>
      <p:sp>
        <p:nvSpPr>
          <p:cNvPr id="15" name="NULL vs 'N/A' icon circle"/>
          <p:cNvSpPr/>
          <p:nvPr/>
        </p:nvSpPr>
        <p:spPr>
          <a:xfrm>
            <a:off x="777240" y="3108960"/>
            <a:ext cx="640080" cy="640080"/>
          </a:xfrm>
          <a:prstGeom prst="ellipse">
            <a:avLst/>
          </a:prstGeom>
          <a:solidFill>
            <a:schemeClr val="accent1"/>
          </a:solidFill>
          <a:ln w="12700">
            <a:solidFill>
              <a:schemeClr val="accent1"/>
            </a:solidFill>
            <a:prstDash val="solid"/>
          </a:ln>
        </p:spPr>
      </p:sp>
      <p:pic>
        <p:nvPicPr>
          <p:cNvPr id="16" name="Image 2" descr="NULL vs 'N/A'">    </p:cNvPr>
          <p:cNvPicPr>
            <a:picLocks noChangeAspect="1"/>
          </p:cNvPicPr>
          <p:nvPr/>
        </p:nvPicPr>
        <p:blipFill>
          <a:blip r:embed="rId3"/>
          <a:stretch>
            <a:fillRect/>
          </a:stretch>
        </p:blipFill>
        <p:spPr>
          <a:xfrm>
            <a:off x="937260" y="3268980"/>
            <a:ext cx="320040" cy="320040"/>
          </a:xfrm>
          <a:prstGeom prst="rect">
            <a:avLst/>
          </a:prstGeom>
        </p:spPr>
      </p:pic>
      <p:sp>
        <p:nvSpPr>
          <p:cNvPr id="17" name="NULL vs &amp;apos;N/A&amp;apos; title"/>
          <p:cNvSpPr txBox="1"/>
          <p:nvPr/>
        </p:nvSpPr>
        <p:spPr>
          <a:xfrm>
            <a:off x="1600200" y="306324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NULL vs 'N/A'</a:t>
            </a:r>
            <a:endParaRPr lang="en-US" sz="1800" dirty="0"/>
          </a:p>
        </p:txBody>
      </p:sp>
      <p:sp>
        <p:nvSpPr>
          <p:cNvPr id="18" name="NULL vs &amp;apos;N/A&amp;apos; text"/>
          <p:cNvSpPr txBox="1"/>
          <p:nvPr/>
        </p:nvSpPr>
        <p:spPr>
          <a:xfrm>
            <a:off x="1600200" y="3474720"/>
            <a:ext cx="4206240" cy="548640"/>
          </a:xfrm>
          <a:prstGeom prst="rect">
            <a:avLst/>
          </a:prstGeom>
          <a:noFill/>
          <a:ln/>
        </p:spPr>
        <p:txBody>
          <a:bodyPr wrap="square" lIns="0" tIns="0" rIns="0" bIns="0" rtlCol="0" anchor="t"/>
          <a:lstStyle/>
          <a:p>
            <a:pPr indent="0" marL="0">
              <a:buNone/>
            </a:pPr>
            <a:r>
              <a:rPr lang="en-US" sz="1400" dirty="0">
                <a:solidFill>
                  <a:schemeClr val="tx1"/>
                </a:solidFill>
              </a:rPr>
              <a:t>Same meaning, different spelling, false alarms</a:t>
            </a:r>
            <a:endParaRPr lang="en-US" sz="1400" dirty="0"/>
          </a:p>
        </p:txBody>
      </p:sp>
      <p:sp>
        <p:nvSpPr>
          <p:cNvPr id="19" name="Lost leading zeros card"/>
          <p:cNvSpPr/>
          <p:nvPr/>
        </p:nvSpPr>
        <p:spPr>
          <a:xfrm>
            <a:off x="6172200" y="2880360"/>
            <a:ext cx="5440680" cy="1280160"/>
          </a:xfrm>
          <a:prstGeom prst="roundRect">
            <a:avLst>
              <a:gd name="adj" fmla="val 5714"/>
            </a:avLst>
          </a:prstGeom>
          <a:solidFill>
            <a:schemeClr val="bg2"/>
          </a:solidFill>
          <a:ln w="12700">
            <a:solidFill>
              <a:schemeClr val="bg2"/>
            </a:solidFill>
            <a:prstDash val="solid"/>
          </a:ln>
        </p:spPr>
      </p:sp>
      <p:sp>
        <p:nvSpPr>
          <p:cNvPr id="20" name="Lost leading zeros icon circle"/>
          <p:cNvSpPr/>
          <p:nvPr/>
        </p:nvSpPr>
        <p:spPr>
          <a:xfrm>
            <a:off x="6400800" y="3108960"/>
            <a:ext cx="640080" cy="640080"/>
          </a:xfrm>
          <a:prstGeom prst="ellipse">
            <a:avLst/>
          </a:prstGeom>
          <a:solidFill>
            <a:schemeClr val="accent1"/>
          </a:solidFill>
          <a:ln w="12700">
            <a:solidFill>
              <a:schemeClr val="accent1"/>
            </a:solidFill>
            <a:prstDash val="solid"/>
          </a:ln>
        </p:spPr>
      </p:sp>
      <p:pic>
        <p:nvPicPr>
          <p:cNvPr id="21" name="Image 3" descr="Lost leading zeros">    </p:cNvPr>
          <p:cNvPicPr>
            <a:picLocks noChangeAspect="1"/>
          </p:cNvPicPr>
          <p:nvPr/>
        </p:nvPicPr>
        <p:blipFill>
          <a:blip r:embed="rId4"/>
          <a:stretch>
            <a:fillRect/>
          </a:stretch>
        </p:blipFill>
        <p:spPr>
          <a:xfrm>
            <a:off x="6560820" y="3268980"/>
            <a:ext cx="320040" cy="320040"/>
          </a:xfrm>
          <a:prstGeom prst="rect">
            <a:avLst/>
          </a:prstGeom>
        </p:spPr>
      </p:pic>
      <p:sp>
        <p:nvSpPr>
          <p:cNvPr id="22" name="Lost leading zeros title"/>
          <p:cNvSpPr txBox="1"/>
          <p:nvPr/>
        </p:nvSpPr>
        <p:spPr>
          <a:xfrm>
            <a:off x="7223760" y="306324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Lost leading zeros</a:t>
            </a:r>
            <a:endParaRPr lang="en-US" sz="1800" dirty="0"/>
          </a:p>
        </p:txBody>
      </p:sp>
      <p:sp>
        <p:nvSpPr>
          <p:cNvPr id="23" name="Lost leading zeros text"/>
          <p:cNvSpPr txBox="1"/>
          <p:nvPr/>
        </p:nvSpPr>
        <p:spPr>
          <a:xfrm>
            <a:off x="7223760" y="3474720"/>
            <a:ext cx="4206240" cy="548640"/>
          </a:xfrm>
          <a:prstGeom prst="rect">
            <a:avLst/>
          </a:prstGeom>
          <a:noFill/>
          <a:ln/>
        </p:spPr>
        <p:txBody>
          <a:bodyPr wrap="square" lIns="0" tIns="0" rIns="0" bIns="0" rtlCol="0" anchor="t"/>
          <a:lstStyle/>
          <a:p>
            <a:pPr indent="0" marL="0">
              <a:buNone/>
            </a:pPr>
            <a:r>
              <a:rPr lang="en-US" sz="1400" dirty="0">
                <a:solidFill>
                  <a:schemeClr val="tx1"/>
                </a:solidFill>
              </a:rPr>
              <a:t>Zip code 02134 becomes 2134</a:t>
            </a:r>
            <a:endParaRPr lang="en-US" sz="1400" dirty="0"/>
          </a:p>
        </p:txBody>
      </p:sp>
      <p:sp>
        <p:nvSpPr>
          <p:cNvPr id="24" name="Partial loads card"/>
          <p:cNvSpPr/>
          <p:nvPr/>
        </p:nvSpPr>
        <p:spPr>
          <a:xfrm>
            <a:off x="548640" y="4297680"/>
            <a:ext cx="5440680" cy="1280160"/>
          </a:xfrm>
          <a:prstGeom prst="roundRect">
            <a:avLst>
              <a:gd name="adj" fmla="val 5714"/>
            </a:avLst>
          </a:prstGeom>
          <a:solidFill>
            <a:schemeClr val="bg2"/>
          </a:solidFill>
          <a:ln w="12700">
            <a:solidFill>
              <a:schemeClr val="bg2"/>
            </a:solidFill>
            <a:prstDash val="solid"/>
          </a:ln>
        </p:spPr>
      </p:sp>
      <p:sp>
        <p:nvSpPr>
          <p:cNvPr id="25" name="Partial loads icon circle"/>
          <p:cNvSpPr/>
          <p:nvPr/>
        </p:nvSpPr>
        <p:spPr>
          <a:xfrm>
            <a:off x="777240" y="4526280"/>
            <a:ext cx="640080" cy="640080"/>
          </a:xfrm>
          <a:prstGeom prst="ellipse">
            <a:avLst/>
          </a:prstGeom>
          <a:solidFill>
            <a:schemeClr val="accent1"/>
          </a:solidFill>
          <a:ln w="12700">
            <a:solidFill>
              <a:schemeClr val="accent1"/>
            </a:solidFill>
            <a:prstDash val="solid"/>
          </a:ln>
        </p:spPr>
      </p:sp>
      <p:pic>
        <p:nvPicPr>
          <p:cNvPr id="26" name="Image 4" descr="Partial loads">    </p:cNvPr>
          <p:cNvPicPr>
            <a:picLocks noChangeAspect="1"/>
          </p:cNvPicPr>
          <p:nvPr/>
        </p:nvPicPr>
        <p:blipFill>
          <a:blip r:embed="rId5"/>
          <a:stretch>
            <a:fillRect/>
          </a:stretch>
        </p:blipFill>
        <p:spPr>
          <a:xfrm>
            <a:off x="937260" y="4686300"/>
            <a:ext cx="320040" cy="320040"/>
          </a:xfrm>
          <a:prstGeom prst="rect">
            <a:avLst/>
          </a:prstGeom>
        </p:spPr>
      </p:pic>
      <p:sp>
        <p:nvSpPr>
          <p:cNvPr id="27" name="Partial loads title"/>
          <p:cNvSpPr txBox="1"/>
          <p:nvPr/>
        </p:nvSpPr>
        <p:spPr>
          <a:xfrm>
            <a:off x="1600200" y="448056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Partial loads</a:t>
            </a:r>
            <a:endParaRPr lang="en-US" sz="1800" dirty="0"/>
          </a:p>
        </p:txBody>
      </p:sp>
      <p:sp>
        <p:nvSpPr>
          <p:cNvPr id="28" name="Partial loads text"/>
          <p:cNvSpPr txBox="1"/>
          <p:nvPr/>
        </p:nvSpPr>
        <p:spPr>
          <a:xfrm>
            <a:off x="1600200" y="4892040"/>
            <a:ext cx="4206240" cy="548640"/>
          </a:xfrm>
          <a:prstGeom prst="rect">
            <a:avLst/>
          </a:prstGeom>
          <a:noFill/>
          <a:ln/>
        </p:spPr>
        <p:txBody>
          <a:bodyPr wrap="square" lIns="0" tIns="0" rIns="0" bIns="0" rtlCol="0" anchor="t"/>
          <a:lstStyle/>
          <a:p>
            <a:pPr indent="0" marL="0">
              <a:buNone/>
            </a:pPr>
            <a:r>
              <a:rPr lang="en-US" sz="1400" dirty="0">
                <a:solidFill>
                  <a:schemeClr val="tx1"/>
                </a:solidFill>
              </a:rPr>
              <a:t>The last block of rows never arrived</a:t>
            </a:r>
            <a:endParaRPr lang="en-US" sz="1400" dirty="0"/>
          </a:p>
        </p:txBody>
      </p:sp>
      <p:sp>
        <p:nvSpPr>
          <p:cNvPr id="29" name="Duplicates card"/>
          <p:cNvSpPr/>
          <p:nvPr/>
        </p:nvSpPr>
        <p:spPr>
          <a:xfrm>
            <a:off x="6172200" y="4297680"/>
            <a:ext cx="5440680" cy="1280160"/>
          </a:xfrm>
          <a:prstGeom prst="roundRect">
            <a:avLst>
              <a:gd name="adj" fmla="val 5714"/>
            </a:avLst>
          </a:prstGeom>
          <a:solidFill>
            <a:schemeClr val="bg2"/>
          </a:solidFill>
          <a:ln w="12700">
            <a:solidFill>
              <a:schemeClr val="bg2"/>
            </a:solidFill>
            <a:prstDash val="solid"/>
          </a:ln>
        </p:spPr>
      </p:sp>
      <p:sp>
        <p:nvSpPr>
          <p:cNvPr id="30" name="Duplicates icon circle"/>
          <p:cNvSpPr/>
          <p:nvPr/>
        </p:nvSpPr>
        <p:spPr>
          <a:xfrm>
            <a:off x="6400800" y="4526280"/>
            <a:ext cx="640080" cy="640080"/>
          </a:xfrm>
          <a:prstGeom prst="ellipse">
            <a:avLst/>
          </a:prstGeom>
          <a:solidFill>
            <a:schemeClr val="accent1"/>
          </a:solidFill>
          <a:ln w="12700">
            <a:solidFill>
              <a:schemeClr val="accent1"/>
            </a:solidFill>
            <a:prstDash val="solid"/>
          </a:ln>
        </p:spPr>
      </p:sp>
      <p:pic>
        <p:nvPicPr>
          <p:cNvPr id="31" name="Image 5" descr="Duplicates">    </p:cNvPr>
          <p:cNvPicPr>
            <a:picLocks noChangeAspect="1"/>
          </p:cNvPicPr>
          <p:nvPr/>
        </p:nvPicPr>
        <p:blipFill>
          <a:blip r:embed="rId6"/>
          <a:stretch>
            <a:fillRect/>
          </a:stretch>
        </p:blipFill>
        <p:spPr>
          <a:xfrm>
            <a:off x="6560820" y="4686300"/>
            <a:ext cx="320040" cy="320040"/>
          </a:xfrm>
          <a:prstGeom prst="rect">
            <a:avLst/>
          </a:prstGeom>
        </p:spPr>
      </p:pic>
      <p:sp>
        <p:nvSpPr>
          <p:cNvPr id="32" name="Duplicates title"/>
          <p:cNvSpPr txBox="1"/>
          <p:nvPr/>
        </p:nvSpPr>
        <p:spPr>
          <a:xfrm>
            <a:off x="7223760" y="448056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Duplicates</a:t>
            </a:r>
            <a:endParaRPr lang="en-US" sz="1800" dirty="0"/>
          </a:p>
        </p:txBody>
      </p:sp>
      <p:sp>
        <p:nvSpPr>
          <p:cNvPr id="33" name="Duplicates text"/>
          <p:cNvSpPr txBox="1"/>
          <p:nvPr/>
        </p:nvSpPr>
        <p:spPr>
          <a:xfrm>
            <a:off x="7223760" y="4892040"/>
            <a:ext cx="4206240" cy="548640"/>
          </a:xfrm>
          <a:prstGeom prst="rect">
            <a:avLst/>
          </a:prstGeom>
          <a:noFill/>
          <a:ln/>
        </p:spPr>
        <p:txBody>
          <a:bodyPr wrap="square" lIns="0" tIns="0" rIns="0" bIns="0" rtlCol="0" anchor="t"/>
          <a:lstStyle/>
          <a:p>
            <a:pPr indent="0" marL="0">
              <a:buNone/>
            </a:pPr>
            <a:r>
              <a:rPr lang="en-US" sz="1400" dirty="0">
                <a:solidFill>
                  <a:schemeClr val="tx1"/>
                </a:solidFill>
              </a:rPr>
              <a:t>Customers loaded twice under the same key</a:t>
            </a:r>
            <a:endParaRPr lang="en-US" sz="1400" dirty="0"/>
          </a:p>
        </p:txBody>
      </p:sp>
      <p:sp>
        <p:nvSpPr>
          <p:cNvPr id="34" name="Problem footnote"/>
          <p:cNvSpPr txBox="1"/>
          <p:nvPr/>
        </p:nvSpPr>
        <p:spPr>
          <a:xfrm>
            <a:off x="548640" y="5852160"/>
            <a:ext cx="11091672" cy="365760"/>
          </a:xfrm>
          <a:prstGeom prst="rect">
            <a:avLst/>
          </a:prstGeom>
          <a:noFill/>
          <a:ln/>
        </p:spPr>
        <p:txBody>
          <a:bodyPr wrap="square" lIns="0" tIns="0" rIns="0" bIns="0" rtlCol="0" anchor="ctr"/>
          <a:lstStyle/>
          <a:p>
            <a:pPr indent="0" marL="0">
              <a:buNone/>
            </a:pPr>
            <a:r>
              <a:rPr lang="en-US" sz="1600" i="1" dirty="0">
                <a:solidFill>
                  <a:schemeClr val="accent6"/>
                </a:solidFill>
              </a:rPr>
              <a:t>Manual SQL checks are slow, inconsistent, and leave no proof.</a:t>
            </a: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DataRecon: compare, explain, prove</a:t>
            </a:r>
            <a:endParaRPr lang="en-US" sz="3200" dirty="0"/>
          </a:p>
        </p:txBody>
      </p:sp>
      <p:sp>
        <p:nvSpPr>
          <p:cNvPr id="4" name="Source box"/>
          <p:cNvSpPr/>
          <p:nvPr/>
        </p:nvSpPr>
        <p:spPr>
          <a:xfrm>
            <a:off x="548640" y="1645920"/>
            <a:ext cx="3200400" cy="2286000"/>
          </a:xfrm>
          <a:prstGeom prst="roundRect">
            <a:avLst>
              <a:gd name="adj" fmla="val 4000"/>
            </a:avLst>
          </a:prstGeom>
          <a:solidFill>
            <a:schemeClr val="bg2"/>
          </a:solidFill>
          <a:ln w="12700">
            <a:solidFill>
              <a:schemeClr val="bg2"/>
            </a:solidFill>
            <a:prstDash val="solid"/>
          </a:ln>
        </p:spPr>
      </p:sp>
      <p:sp>
        <p:nvSpPr>
          <p:cNvPr id="5" name="Source icon circle"/>
          <p:cNvSpPr/>
          <p:nvPr/>
        </p:nvSpPr>
        <p:spPr>
          <a:xfrm>
            <a:off x="1828800" y="1920240"/>
            <a:ext cx="731520" cy="731520"/>
          </a:xfrm>
          <a:prstGeom prst="ellipse">
            <a:avLst/>
          </a:prstGeom>
          <a:solidFill>
            <a:schemeClr val="accent1"/>
          </a:solidFill>
          <a:ln w="12700">
            <a:solidFill>
              <a:schemeClr val="accent1"/>
            </a:solidFill>
            <a:prstDash val="solid"/>
          </a:ln>
        </p:spPr>
      </p:sp>
      <p:pic>
        <p:nvPicPr>
          <p:cNvPr id="6" name="Image 0" descr="Source">    </p:cNvPr>
          <p:cNvPicPr>
            <a:picLocks noChangeAspect="1"/>
          </p:cNvPicPr>
          <p:nvPr/>
        </p:nvPicPr>
        <p:blipFill>
          <a:blip r:embed="rId1"/>
          <a:stretch>
            <a:fillRect/>
          </a:stretch>
        </p:blipFill>
        <p:spPr>
          <a:xfrm>
            <a:off x="2011680" y="2103120"/>
            <a:ext cx="365760" cy="365760"/>
          </a:xfrm>
          <a:prstGeom prst="rect">
            <a:avLst/>
          </a:prstGeom>
        </p:spPr>
      </p:pic>
      <p:sp>
        <p:nvSpPr>
          <p:cNvPr id="7" name="Source label"/>
          <p:cNvSpPr txBox="1"/>
          <p:nvPr/>
        </p:nvSpPr>
        <p:spPr>
          <a:xfrm>
            <a:off x="548640" y="2788920"/>
            <a:ext cx="3200400" cy="457200"/>
          </a:xfrm>
          <a:prstGeom prst="rect">
            <a:avLst/>
          </a:prstGeom>
          <a:noFill/>
          <a:ln/>
        </p:spPr>
        <p:txBody>
          <a:bodyPr wrap="square" lIns="0" tIns="0" rIns="0" bIns="0" rtlCol="0" anchor="ctr"/>
          <a:lstStyle/>
          <a:p>
            <a:pPr algn="ctr" indent="0" marL="0">
              <a:buNone/>
            </a:pPr>
            <a:r>
              <a:rPr lang="en-US" sz="2400" b="1" dirty="0">
                <a:solidFill>
                  <a:schemeClr val="tx2"/>
                </a:solidFill>
              </a:rPr>
              <a:t>Source</a:t>
            </a:r>
            <a:endParaRPr lang="en-US" sz="2400" dirty="0"/>
          </a:p>
        </p:txBody>
      </p:sp>
      <p:sp>
        <p:nvSpPr>
          <p:cNvPr id="8" name="Source sub"/>
          <p:cNvSpPr txBox="1"/>
          <p:nvPr/>
        </p:nvSpPr>
        <p:spPr>
          <a:xfrm>
            <a:off x="548640" y="3291840"/>
            <a:ext cx="3200400" cy="365760"/>
          </a:xfrm>
          <a:prstGeom prst="rect">
            <a:avLst/>
          </a:prstGeom>
          <a:noFill/>
          <a:ln/>
        </p:spPr>
        <p:txBody>
          <a:bodyPr wrap="square" lIns="0" tIns="0" rIns="0" bIns="0" rtlCol="0" anchor="ctr"/>
          <a:lstStyle/>
          <a:p>
            <a:pPr algn="ctr" indent="0" marL="0">
              <a:buNone/>
            </a:pPr>
            <a:r>
              <a:rPr lang="en-US" sz="1600" dirty="0">
                <a:solidFill>
                  <a:schemeClr val="tx2"/>
                </a:solidFill>
              </a:rPr>
              <a:t>File or SQL query</a:t>
            </a:r>
            <a:endParaRPr lang="en-US" sz="1600" dirty="0"/>
          </a:p>
        </p:txBody>
      </p:sp>
      <p:pic>
        <p:nvPicPr>
          <p:cNvPr id="9" name="Image 1" descr="arrow">    </p:cNvPr>
          <p:cNvPicPr>
            <a:picLocks noChangeAspect="1"/>
          </p:cNvPicPr>
          <p:nvPr/>
        </p:nvPicPr>
        <p:blipFill>
          <a:blip r:embed="rId2"/>
          <a:stretch>
            <a:fillRect/>
          </a:stretch>
        </p:blipFill>
        <p:spPr>
          <a:xfrm>
            <a:off x="3840480" y="2560320"/>
            <a:ext cx="457200" cy="457200"/>
          </a:xfrm>
          <a:prstGeom prst="rect">
            <a:avLst/>
          </a:prstGeom>
        </p:spPr>
      </p:pic>
      <p:sp>
        <p:nvSpPr>
          <p:cNvPr id="10" name="DataRecon box"/>
          <p:cNvSpPr/>
          <p:nvPr/>
        </p:nvSpPr>
        <p:spPr>
          <a:xfrm>
            <a:off x="4389120" y="1645920"/>
            <a:ext cx="3200400" cy="2286000"/>
          </a:xfrm>
          <a:prstGeom prst="roundRect">
            <a:avLst>
              <a:gd name="adj" fmla="val 4000"/>
            </a:avLst>
          </a:prstGeom>
          <a:solidFill>
            <a:schemeClr val="tx2"/>
          </a:solidFill>
          <a:ln w="12700">
            <a:solidFill>
              <a:schemeClr val="tx2"/>
            </a:solidFill>
            <a:prstDash val="solid"/>
          </a:ln>
        </p:spPr>
      </p:sp>
      <p:sp>
        <p:nvSpPr>
          <p:cNvPr id="11" name="DataRecon icon circle"/>
          <p:cNvSpPr/>
          <p:nvPr/>
        </p:nvSpPr>
        <p:spPr>
          <a:xfrm>
            <a:off x="5669280" y="1920240"/>
            <a:ext cx="731520" cy="731520"/>
          </a:xfrm>
          <a:prstGeom prst="ellipse">
            <a:avLst/>
          </a:prstGeom>
          <a:solidFill>
            <a:schemeClr val="accent1"/>
          </a:solidFill>
          <a:ln w="12700">
            <a:solidFill>
              <a:schemeClr val="accent1"/>
            </a:solidFill>
            <a:prstDash val="solid"/>
          </a:ln>
        </p:spPr>
      </p:sp>
      <p:pic>
        <p:nvPicPr>
          <p:cNvPr id="12" name="Image 2" descr="DataRecon">    </p:cNvPr>
          <p:cNvPicPr>
            <a:picLocks noChangeAspect="1"/>
          </p:cNvPicPr>
          <p:nvPr/>
        </p:nvPicPr>
        <p:blipFill>
          <a:blip r:embed="rId3"/>
          <a:stretch>
            <a:fillRect/>
          </a:stretch>
        </p:blipFill>
        <p:spPr>
          <a:xfrm>
            <a:off x="5852160" y="2103120"/>
            <a:ext cx="365760" cy="365760"/>
          </a:xfrm>
          <a:prstGeom prst="rect">
            <a:avLst/>
          </a:prstGeom>
        </p:spPr>
      </p:pic>
      <p:sp>
        <p:nvSpPr>
          <p:cNvPr id="13" name="DataRecon label"/>
          <p:cNvSpPr txBox="1"/>
          <p:nvPr/>
        </p:nvSpPr>
        <p:spPr>
          <a:xfrm>
            <a:off x="4389120" y="2788920"/>
            <a:ext cx="3200400" cy="457200"/>
          </a:xfrm>
          <a:prstGeom prst="rect">
            <a:avLst/>
          </a:prstGeom>
          <a:noFill/>
          <a:ln/>
        </p:spPr>
        <p:txBody>
          <a:bodyPr wrap="square" lIns="0" tIns="0" rIns="0" bIns="0" rtlCol="0" anchor="ctr"/>
          <a:lstStyle/>
          <a:p>
            <a:pPr algn="ctr" indent="0" marL="0">
              <a:buNone/>
            </a:pPr>
            <a:r>
              <a:rPr lang="en-US" sz="2400" b="1" dirty="0">
                <a:solidFill>
                  <a:schemeClr val="bg1"/>
                </a:solidFill>
              </a:rPr>
              <a:t>DataRecon</a:t>
            </a:r>
            <a:endParaRPr lang="en-US" sz="2400" dirty="0"/>
          </a:p>
        </p:txBody>
      </p:sp>
      <p:sp>
        <p:nvSpPr>
          <p:cNvPr id="14" name="DataRecon sub"/>
          <p:cNvSpPr txBox="1"/>
          <p:nvPr/>
        </p:nvSpPr>
        <p:spPr>
          <a:xfrm>
            <a:off x="4389120" y="3291840"/>
            <a:ext cx="3200400" cy="365760"/>
          </a:xfrm>
          <a:prstGeom prst="rect">
            <a:avLst/>
          </a:prstGeom>
          <a:noFill/>
          <a:ln/>
        </p:spPr>
        <p:txBody>
          <a:bodyPr wrap="square" lIns="0" tIns="0" rIns="0" bIns="0" rtlCol="0" anchor="ctr"/>
          <a:lstStyle/>
          <a:p>
            <a:pPr algn="ctr" indent="0" marL="0">
              <a:buNone/>
            </a:pPr>
            <a:r>
              <a:rPr lang="en-US" sz="1600" dirty="0">
                <a:solidFill>
                  <a:schemeClr val="bg1"/>
                </a:solidFill>
              </a:rPr>
              <a:t>Key-based comparison</a:t>
            </a:r>
            <a:endParaRPr lang="en-US" sz="1600" dirty="0"/>
          </a:p>
        </p:txBody>
      </p:sp>
      <p:pic>
        <p:nvPicPr>
          <p:cNvPr id="15" name="Image 3" descr="arrow">    </p:cNvPr>
          <p:cNvPicPr>
            <a:picLocks noChangeAspect="1"/>
          </p:cNvPicPr>
          <p:nvPr/>
        </p:nvPicPr>
        <p:blipFill>
          <a:blip r:embed="rId4"/>
          <a:stretch>
            <a:fillRect/>
          </a:stretch>
        </p:blipFill>
        <p:spPr>
          <a:xfrm>
            <a:off x="7680960" y="2560320"/>
            <a:ext cx="457200" cy="457200"/>
          </a:xfrm>
          <a:prstGeom prst="rect">
            <a:avLst/>
          </a:prstGeom>
        </p:spPr>
      </p:pic>
      <p:sp>
        <p:nvSpPr>
          <p:cNvPr id="16" name="Results box"/>
          <p:cNvSpPr/>
          <p:nvPr/>
        </p:nvSpPr>
        <p:spPr>
          <a:xfrm>
            <a:off x="8229600" y="1645920"/>
            <a:ext cx="3200400" cy="2286000"/>
          </a:xfrm>
          <a:prstGeom prst="roundRect">
            <a:avLst>
              <a:gd name="adj" fmla="val 4000"/>
            </a:avLst>
          </a:prstGeom>
          <a:solidFill>
            <a:schemeClr val="bg2"/>
          </a:solidFill>
          <a:ln w="12700">
            <a:solidFill>
              <a:schemeClr val="bg2"/>
            </a:solidFill>
            <a:prstDash val="solid"/>
          </a:ln>
        </p:spPr>
      </p:sp>
      <p:sp>
        <p:nvSpPr>
          <p:cNvPr id="17" name="Results icon circle"/>
          <p:cNvSpPr/>
          <p:nvPr/>
        </p:nvSpPr>
        <p:spPr>
          <a:xfrm>
            <a:off x="9509760" y="1920240"/>
            <a:ext cx="731520" cy="731520"/>
          </a:xfrm>
          <a:prstGeom prst="ellipse">
            <a:avLst/>
          </a:prstGeom>
          <a:solidFill>
            <a:schemeClr val="accent1"/>
          </a:solidFill>
          <a:ln w="12700">
            <a:solidFill>
              <a:schemeClr val="accent1"/>
            </a:solidFill>
            <a:prstDash val="solid"/>
          </a:ln>
        </p:spPr>
      </p:sp>
      <p:pic>
        <p:nvPicPr>
          <p:cNvPr id="18" name="Image 4" descr="Results">    </p:cNvPr>
          <p:cNvPicPr>
            <a:picLocks noChangeAspect="1"/>
          </p:cNvPicPr>
          <p:nvPr/>
        </p:nvPicPr>
        <p:blipFill>
          <a:blip r:embed="rId5"/>
          <a:stretch>
            <a:fillRect/>
          </a:stretch>
        </p:blipFill>
        <p:spPr>
          <a:xfrm>
            <a:off x="9692640" y="2103120"/>
            <a:ext cx="365760" cy="365760"/>
          </a:xfrm>
          <a:prstGeom prst="rect">
            <a:avLst/>
          </a:prstGeom>
        </p:spPr>
      </p:pic>
      <p:sp>
        <p:nvSpPr>
          <p:cNvPr id="19" name="Results label"/>
          <p:cNvSpPr txBox="1"/>
          <p:nvPr/>
        </p:nvSpPr>
        <p:spPr>
          <a:xfrm>
            <a:off x="8229600" y="2788920"/>
            <a:ext cx="3200400" cy="457200"/>
          </a:xfrm>
          <a:prstGeom prst="rect">
            <a:avLst/>
          </a:prstGeom>
          <a:noFill/>
          <a:ln/>
        </p:spPr>
        <p:txBody>
          <a:bodyPr wrap="square" lIns="0" tIns="0" rIns="0" bIns="0" rtlCol="0" anchor="ctr"/>
          <a:lstStyle/>
          <a:p>
            <a:pPr algn="ctr" indent="0" marL="0">
              <a:buNone/>
            </a:pPr>
            <a:r>
              <a:rPr lang="en-US" sz="2400" b="1" dirty="0">
                <a:solidFill>
                  <a:schemeClr val="tx2"/>
                </a:solidFill>
              </a:rPr>
              <a:t>Results</a:t>
            </a:r>
            <a:endParaRPr lang="en-US" sz="2400" dirty="0"/>
          </a:p>
        </p:txBody>
      </p:sp>
      <p:sp>
        <p:nvSpPr>
          <p:cNvPr id="20" name="Results sub"/>
          <p:cNvSpPr txBox="1"/>
          <p:nvPr/>
        </p:nvSpPr>
        <p:spPr>
          <a:xfrm>
            <a:off x="8229600" y="3291840"/>
            <a:ext cx="3200400" cy="365760"/>
          </a:xfrm>
          <a:prstGeom prst="rect">
            <a:avLst/>
          </a:prstGeom>
          <a:noFill/>
          <a:ln/>
        </p:spPr>
        <p:txBody>
          <a:bodyPr wrap="square" lIns="0" tIns="0" rIns="0" bIns="0" rtlCol="0" anchor="ctr"/>
          <a:lstStyle/>
          <a:p>
            <a:pPr algn="ctr" indent="0" marL="0">
              <a:buNone/>
            </a:pPr>
            <a:r>
              <a:rPr lang="en-US" sz="1600" dirty="0">
                <a:solidFill>
                  <a:schemeClr val="tx2"/>
                </a:solidFill>
              </a:rPr>
              <a:t>Verdict, row status, evidence</a:t>
            </a:r>
            <a:endParaRPr lang="en-US" sz="1600" dirty="0"/>
          </a:p>
        </p:txBody>
      </p:sp>
      <p:sp>
        <p:nvSpPr>
          <p:cNvPr id="21" name="Principle Runs locally"/>
          <p:cNvSpPr txBox="1"/>
          <p:nvPr/>
        </p:nvSpPr>
        <p:spPr>
          <a:xfrm>
            <a:off x="548640" y="4480560"/>
            <a:ext cx="3383280" cy="1005840"/>
          </a:xfrm>
          <a:prstGeom prst="rect">
            <a:avLst/>
          </a:prstGeom>
          <a:noFill/>
          <a:ln/>
        </p:spPr>
        <p:txBody>
          <a:bodyPr wrap="square" lIns="0" tIns="0" rIns="0" bIns="0" rtlCol="0" anchor="t"/>
          <a:lstStyle/>
          <a:p>
            <a:pPr indent="0" marL="0">
              <a:buNone/>
            </a:pPr>
            <a:r>
              <a:rPr lang="en-US" sz="2200" b="1" dirty="0">
                <a:solidFill>
                  <a:schemeClr val="accent1"/>
                </a:solidFill>
              </a:rPr>
              <a:t>Runs locally</a:t>
            </a:r>
            <a:endParaRPr lang="en-US" sz="2200" dirty="0"/>
          </a:p>
          <a:p>
            <a:pPr indent="0" marL="0">
              <a:buNone/>
            </a:pPr>
            <a:r>
              <a:rPr lang="en-US" sz="1600" dirty="0">
                <a:solidFill>
                  <a:schemeClr val="tx1"/>
                </a:solidFill>
              </a:rPr>
              <a:t>Data stays on the machine</a:t>
            </a:r>
            <a:endParaRPr lang="en-US" sz="2200" dirty="0"/>
          </a:p>
        </p:txBody>
      </p:sp>
      <p:sp>
        <p:nvSpPr>
          <p:cNvPr id="22" name="Principle Deterministic"/>
          <p:cNvSpPr txBox="1"/>
          <p:nvPr/>
        </p:nvSpPr>
        <p:spPr>
          <a:xfrm>
            <a:off x="4389120" y="4480560"/>
            <a:ext cx="3383280" cy="1005840"/>
          </a:xfrm>
          <a:prstGeom prst="rect">
            <a:avLst/>
          </a:prstGeom>
          <a:noFill/>
          <a:ln/>
        </p:spPr>
        <p:txBody>
          <a:bodyPr wrap="square" lIns="0" tIns="0" rIns="0" bIns="0" rtlCol="0" anchor="t"/>
          <a:lstStyle/>
          <a:p>
            <a:pPr indent="0" marL="0">
              <a:buNone/>
            </a:pPr>
            <a:r>
              <a:rPr lang="en-US" sz="2200" b="1" dirty="0">
                <a:solidFill>
                  <a:schemeClr val="accent1"/>
                </a:solidFill>
              </a:rPr>
              <a:t>Deterministic</a:t>
            </a:r>
            <a:endParaRPr lang="en-US" sz="2200" dirty="0"/>
          </a:p>
          <a:p>
            <a:pPr indent="0" marL="0">
              <a:buNone/>
            </a:pPr>
            <a:r>
              <a:rPr lang="en-US" sz="1600" dirty="0">
                <a:solidFill>
                  <a:schemeClr val="tx1"/>
                </a:solidFill>
              </a:rPr>
              <a:t>Same input, same result</a:t>
            </a:r>
            <a:endParaRPr lang="en-US" sz="2200" dirty="0"/>
          </a:p>
        </p:txBody>
      </p:sp>
      <p:sp>
        <p:nvSpPr>
          <p:cNvPr id="23" name="Principle No external AI"/>
          <p:cNvSpPr txBox="1"/>
          <p:nvPr/>
        </p:nvSpPr>
        <p:spPr>
          <a:xfrm>
            <a:off x="8229600" y="4480560"/>
            <a:ext cx="3383280" cy="1005840"/>
          </a:xfrm>
          <a:prstGeom prst="rect">
            <a:avLst/>
          </a:prstGeom>
          <a:noFill/>
          <a:ln/>
        </p:spPr>
        <p:txBody>
          <a:bodyPr wrap="square" lIns="0" tIns="0" rIns="0" bIns="0" rtlCol="0" anchor="t"/>
          <a:lstStyle/>
          <a:p>
            <a:pPr indent="0" marL="0">
              <a:buNone/>
            </a:pPr>
            <a:r>
              <a:rPr lang="en-US" sz="2200" b="1" dirty="0">
                <a:solidFill>
                  <a:schemeClr val="accent1"/>
                </a:solidFill>
              </a:rPr>
              <a:t>No external AI</a:t>
            </a:r>
            <a:endParaRPr lang="en-US" sz="2200" dirty="0"/>
          </a:p>
          <a:p>
            <a:pPr indent="0" marL="0">
              <a:buNone/>
            </a:pPr>
            <a:r>
              <a:rPr lang="en-US" sz="1600" dirty="0">
                <a:solidFill>
                  <a:schemeClr val="tx1"/>
                </a:solidFill>
              </a:rPr>
              <a:t>No data sent to any service</a:t>
            </a:r>
            <a:endParaRPr lang="en-US" sz="22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Files and databases, in any combination</a:t>
            </a:r>
            <a:endParaRPr lang="en-US" sz="3200" dirty="0"/>
          </a:p>
        </p:txBody>
      </p:sp>
      <p:sp>
        <p:nvSpPr>
          <p:cNvPr id="4" name="Files card"/>
          <p:cNvSpPr/>
          <p:nvPr/>
        </p:nvSpPr>
        <p:spPr>
          <a:xfrm>
            <a:off x="548640" y="1508760"/>
            <a:ext cx="5440680" cy="3108960"/>
          </a:xfrm>
          <a:prstGeom prst="roundRect">
            <a:avLst>
              <a:gd name="adj" fmla="val 2353"/>
            </a:avLst>
          </a:prstGeom>
          <a:solidFill>
            <a:schemeClr val="bg2"/>
          </a:solidFill>
          <a:ln w="12700">
            <a:solidFill>
              <a:schemeClr val="bg2"/>
            </a:solidFill>
            <a:prstDash val="solid"/>
          </a:ln>
        </p:spPr>
      </p:sp>
      <p:sp>
        <p:nvSpPr>
          <p:cNvPr id="5" name="Files icon circle"/>
          <p:cNvSpPr/>
          <p:nvPr/>
        </p:nvSpPr>
        <p:spPr>
          <a:xfrm>
            <a:off x="822960" y="1737360"/>
            <a:ext cx="731520" cy="731520"/>
          </a:xfrm>
          <a:prstGeom prst="ellipse">
            <a:avLst/>
          </a:prstGeom>
          <a:solidFill>
            <a:schemeClr val="accent1"/>
          </a:solidFill>
          <a:ln w="12700">
            <a:solidFill>
              <a:schemeClr val="accent1"/>
            </a:solidFill>
            <a:prstDash val="solid"/>
          </a:ln>
        </p:spPr>
      </p:sp>
      <p:pic>
        <p:nvPicPr>
          <p:cNvPr id="6" name="Image 0" descr="Files">    </p:cNvPr>
          <p:cNvPicPr>
            <a:picLocks noChangeAspect="1"/>
          </p:cNvPicPr>
          <p:nvPr/>
        </p:nvPicPr>
        <p:blipFill>
          <a:blip r:embed="rId1"/>
          <a:stretch>
            <a:fillRect/>
          </a:stretch>
        </p:blipFill>
        <p:spPr>
          <a:xfrm>
            <a:off x="1005840" y="1920240"/>
            <a:ext cx="365760" cy="365760"/>
          </a:xfrm>
          <a:prstGeom prst="rect">
            <a:avLst/>
          </a:prstGeom>
        </p:spPr>
      </p:pic>
      <p:sp>
        <p:nvSpPr>
          <p:cNvPr id="7" name="Files heading"/>
          <p:cNvSpPr txBox="1"/>
          <p:nvPr/>
        </p:nvSpPr>
        <p:spPr>
          <a:xfrm>
            <a:off x="1737360" y="1737360"/>
            <a:ext cx="4023360" cy="731520"/>
          </a:xfrm>
          <a:prstGeom prst="rect">
            <a:avLst/>
          </a:prstGeom>
          <a:noFill/>
          <a:ln/>
        </p:spPr>
        <p:txBody>
          <a:bodyPr wrap="square" lIns="0" tIns="0" rIns="0" bIns="0" rtlCol="0" anchor="ctr"/>
          <a:lstStyle/>
          <a:p>
            <a:pPr indent="0" marL="0">
              <a:buNone/>
            </a:pPr>
            <a:r>
              <a:rPr lang="en-US" sz="2200" b="1" dirty="0">
                <a:solidFill>
                  <a:schemeClr val="tx2"/>
                </a:solidFill>
              </a:rPr>
              <a:t>Files</a:t>
            </a:r>
            <a:endParaRPr lang="en-US" sz="2200" dirty="0"/>
          </a:p>
        </p:txBody>
      </p:sp>
      <p:sp>
        <p:nvSpPr>
          <p:cNvPr id="8" name="Files list"/>
          <p:cNvSpPr txBox="1"/>
          <p:nvPr/>
        </p:nvSpPr>
        <p:spPr>
          <a:xfrm>
            <a:off x="914400" y="2743200"/>
            <a:ext cx="4754880" cy="17373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CSV, TXT, TSV</a:t>
            </a:r>
            <a:endParaRPr lang="en-US" sz="1800" dirty="0"/>
          </a:p>
          <a:p>
            <a:pPr marL="342900" indent="-342900">
              <a:spcAft>
                <a:spcPts val="800"/>
              </a:spcAft>
              <a:buSzPct val="100000"/>
              <a:buChar char="•"/>
            </a:pPr>
            <a:r>
              <a:rPr lang="en-US" sz="1800" dirty="0">
                <a:solidFill>
                  <a:schemeClr val="tx1"/>
                </a:solidFill>
              </a:rPr>
              <a:t>Excel (XLSX, XLS)</a:t>
            </a:r>
            <a:endParaRPr lang="en-US" sz="1800" dirty="0"/>
          </a:p>
          <a:p>
            <a:pPr marL="342900" indent="-342900">
              <a:spcAft>
                <a:spcPts val="800"/>
              </a:spcAft>
              <a:buSzPct val="100000"/>
              <a:buChar char="•"/>
            </a:pPr>
            <a:r>
              <a:rPr lang="en-US" sz="1800" dirty="0">
                <a:solidFill>
                  <a:schemeClr val="tx1"/>
                </a:solidFill>
              </a:rPr>
              <a:t>Parquet</a:t>
            </a:r>
            <a:endParaRPr lang="en-US" sz="1800" dirty="0"/>
          </a:p>
        </p:txBody>
      </p:sp>
      <p:sp>
        <p:nvSpPr>
          <p:cNvPr id="9" name="Databases (SQL query) card"/>
          <p:cNvSpPr/>
          <p:nvPr/>
        </p:nvSpPr>
        <p:spPr>
          <a:xfrm>
            <a:off x="6172200" y="1508760"/>
            <a:ext cx="5440680" cy="3108960"/>
          </a:xfrm>
          <a:prstGeom prst="roundRect">
            <a:avLst>
              <a:gd name="adj" fmla="val 2353"/>
            </a:avLst>
          </a:prstGeom>
          <a:solidFill>
            <a:schemeClr val="bg2"/>
          </a:solidFill>
          <a:ln w="12700">
            <a:solidFill>
              <a:schemeClr val="bg2"/>
            </a:solidFill>
            <a:prstDash val="solid"/>
          </a:ln>
        </p:spPr>
      </p:sp>
      <p:sp>
        <p:nvSpPr>
          <p:cNvPr id="10" name="Databases (SQL query) icon circle"/>
          <p:cNvSpPr/>
          <p:nvPr/>
        </p:nvSpPr>
        <p:spPr>
          <a:xfrm>
            <a:off x="6446520" y="1737360"/>
            <a:ext cx="731520" cy="731520"/>
          </a:xfrm>
          <a:prstGeom prst="ellipse">
            <a:avLst/>
          </a:prstGeom>
          <a:solidFill>
            <a:schemeClr val="accent1"/>
          </a:solidFill>
          <a:ln w="12700">
            <a:solidFill>
              <a:schemeClr val="accent1"/>
            </a:solidFill>
            <a:prstDash val="solid"/>
          </a:ln>
        </p:spPr>
      </p:sp>
      <p:pic>
        <p:nvPicPr>
          <p:cNvPr id="11" name="Image 1" descr="Databases (SQL query)">    </p:cNvPr>
          <p:cNvPicPr>
            <a:picLocks noChangeAspect="1"/>
          </p:cNvPicPr>
          <p:nvPr/>
        </p:nvPicPr>
        <p:blipFill>
          <a:blip r:embed="rId2"/>
          <a:stretch>
            <a:fillRect/>
          </a:stretch>
        </p:blipFill>
        <p:spPr>
          <a:xfrm>
            <a:off x="6629400" y="1920240"/>
            <a:ext cx="365760" cy="365760"/>
          </a:xfrm>
          <a:prstGeom prst="rect">
            <a:avLst/>
          </a:prstGeom>
        </p:spPr>
      </p:pic>
      <p:sp>
        <p:nvSpPr>
          <p:cNvPr id="12" name="Databases (SQL query) heading"/>
          <p:cNvSpPr txBox="1"/>
          <p:nvPr/>
        </p:nvSpPr>
        <p:spPr>
          <a:xfrm>
            <a:off x="7360920" y="1737360"/>
            <a:ext cx="4023360" cy="731520"/>
          </a:xfrm>
          <a:prstGeom prst="rect">
            <a:avLst/>
          </a:prstGeom>
          <a:noFill/>
          <a:ln/>
        </p:spPr>
        <p:txBody>
          <a:bodyPr wrap="square" lIns="0" tIns="0" rIns="0" bIns="0" rtlCol="0" anchor="ctr"/>
          <a:lstStyle/>
          <a:p>
            <a:pPr indent="0" marL="0">
              <a:buNone/>
            </a:pPr>
            <a:r>
              <a:rPr lang="en-US" sz="2200" b="1" dirty="0">
                <a:solidFill>
                  <a:schemeClr val="tx2"/>
                </a:solidFill>
              </a:rPr>
              <a:t>Databases (SQL query)</a:t>
            </a:r>
            <a:endParaRPr lang="en-US" sz="2200" dirty="0"/>
          </a:p>
        </p:txBody>
      </p:sp>
      <p:sp>
        <p:nvSpPr>
          <p:cNvPr id="13" name="Databases (SQL query) list"/>
          <p:cNvSpPr txBox="1"/>
          <p:nvPr/>
        </p:nvSpPr>
        <p:spPr>
          <a:xfrm>
            <a:off x="6537960" y="2743200"/>
            <a:ext cx="4754880" cy="17373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PostgreSQL</a:t>
            </a:r>
            <a:endParaRPr lang="en-US" sz="1800" dirty="0"/>
          </a:p>
          <a:p>
            <a:pPr marL="342900" indent="-342900">
              <a:spcAft>
                <a:spcPts val="800"/>
              </a:spcAft>
              <a:buSzPct val="100000"/>
              <a:buChar char="•"/>
            </a:pPr>
            <a:r>
              <a:rPr lang="en-US" sz="1800" dirty="0">
                <a:solidFill>
                  <a:schemeClr val="tx1"/>
                </a:solidFill>
              </a:rPr>
              <a:t>SQL Server</a:t>
            </a:r>
            <a:endParaRPr lang="en-US" sz="1800" dirty="0"/>
          </a:p>
          <a:p>
            <a:pPr marL="342900" indent="-342900">
              <a:spcAft>
                <a:spcPts val="800"/>
              </a:spcAft>
              <a:buSzPct val="100000"/>
              <a:buChar char="•"/>
            </a:pPr>
            <a:r>
              <a:rPr lang="en-US" sz="1800" dirty="0">
                <a:solidFill>
                  <a:schemeClr val="tx1"/>
                </a:solidFill>
              </a:rPr>
              <a:t>MySQL</a:t>
            </a:r>
            <a:endParaRPr lang="en-US" sz="1800" dirty="0"/>
          </a:p>
          <a:p>
            <a:pPr marL="342900" indent="-342900">
              <a:spcAft>
                <a:spcPts val="800"/>
              </a:spcAft>
              <a:buSzPct val="100000"/>
              <a:buChar char="•"/>
            </a:pPr>
            <a:r>
              <a:rPr lang="en-US" sz="1800" dirty="0">
                <a:solidFill>
                  <a:schemeClr val="tx1"/>
                </a:solidFill>
              </a:rPr>
              <a:t>SQLite</a:t>
            </a:r>
            <a:endParaRPr lang="en-US" sz="1800" dirty="0"/>
          </a:p>
        </p:txBody>
      </p:sp>
      <p:sp>
        <p:nvSpPr>
          <p:cNvPr id="14" name="Combinations"/>
          <p:cNvSpPr txBox="1"/>
          <p:nvPr/>
        </p:nvSpPr>
        <p:spPr>
          <a:xfrm>
            <a:off x="548640" y="5029200"/>
            <a:ext cx="11091672" cy="457200"/>
          </a:xfrm>
          <a:prstGeom prst="rect">
            <a:avLst/>
          </a:prstGeom>
          <a:noFill/>
          <a:ln/>
        </p:spPr>
        <p:txBody>
          <a:bodyPr wrap="square" lIns="0" tIns="0" rIns="0" bIns="0" rtlCol="0" anchor="ctr"/>
          <a:lstStyle/>
          <a:p>
            <a:pPr indent="0" marL="0">
              <a:buNone/>
            </a:pPr>
            <a:r>
              <a:rPr lang="en-US" sz="1800" b="1" dirty="0">
                <a:solidFill>
                  <a:schemeClr val="tx2"/>
                </a:solidFill>
              </a:rPr>
              <a:t>Combinations: </a:t>
            </a:r>
            <a:pPr indent="0" marL="0">
              <a:buNone/>
            </a:pPr>
            <a:r>
              <a:rPr lang="en-US" sz="1800" dirty="0">
                <a:solidFill>
                  <a:schemeClr val="tx1"/>
                </a:solidFill>
              </a:rPr>
              <a:t>file to file, file to table, table to table (including different database types).</a:t>
            </a:r>
            <a:endParaRPr lang="en-US" sz="18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Validations that go beyond row counts</a:t>
            </a:r>
            <a:endParaRPr lang="en-US" sz="3200" dirty="0"/>
          </a:p>
        </p:txBody>
      </p:sp>
      <p:sp>
        <p:nvSpPr>
          <p:cNvPr id="4" name="Structure card"/>
          <p:cNvSpPr/>
          <p:nvPr/>
        </p:nvSpPr>
        <p:spPr>
          <a:xfrm>
            <a:off x="548640" y="1463040"/>
            <a:ext cx="5440680" cy="2286000"/>
          </a:xfrm>
          <a:prstGeom prst="roundRect">
            <a:avLst>
              <a:gd name="adj" fmla="val 3200"/>
            </a:avLst>
          </a:prstGeom>
          <a:solidFill>
            <a:schemeClr val="bg2"/>
          </a:solidFill>
          <a:ln w="12700">
            <a:solidFill>
              <a:schemeClr val="bg2"/>
            </a:solidFill>
            <a:prstDash val="solid"/>
          </a:ln>
        </p:spPr>
      </p:sp>
      <p:sp>
        <p:nvSpPr>
          <p:cNvPr id="5" name="Structure icon circle"/>
          <p:cNvSpPr/>
          <p:nvPr/>
        </p:nvSpPr>
        <p:spPr>
          <a:xfrm>
            <a:off x="777240" y="1691640"/>
            <a:ext cx="594360" cy="594360"/>
          </a:xfrm>
          <a:prstGeom prst="ellipse">
            <a:avLst/>
          </a:prstGeom>
          <a:solidFill>
            <a:schemeClr val="accent1"/>
          </a:solidFill>
          <a:ln w="12700">
            <a:solidFill>
              <a:schemeClr val="accent1"/>
            </a:solidFill>
            <a:prstDash val="solid"/>
          </a:ln>
        </p:spPr>
      </p:sp>
      <p:pic>
        <p:nvPicPr>
          <p:cNvPr id="6" name="Image 0" descr="Structure">    </p:cNvPr>
          <p:cNvPicPr>
            <a:picLocks noChangeAspect="1"/>
          </p:cNvPicPr>
          <p:nvPr/>
        </p:nvPicPr>
        <p:blipFill>
          <a:blip r:embed="rId1"/>
          <a:stretch>
            <a:fillRect/>
          </a:stretch>
        </p:blipFill>
        <p:spPr>
          <a:xfrm>
            <a:off x="925830" y="1840230"/>
            <a:ext cx="297180" cy="297180"/>
          </a:xfrm>
          <a:prstGeom prst="rect">
            <a:avLst/>
          </a:prstGeom>
        </p:spPr>
      </p:pic>
      <p:sp>
        <p:nvSpPr>
          <p:cNvPr id="7" name="Structure heading"/>
          <p:cNvSpPr txBox="1"/>
          <p:nvPr/>
        </p:nvSpPr>
        <p:spPr>
          <a:xfrm>
            <a:off x="1554480" y="1691640"/>
            <a:ext cx="4206240" cy="594360"/>
          </a:xfrm>
          <a:prstGeom prst="rect">
            <a:avLst/>
          </a:prstGeom>
          <a:noFill/>
          <a:ln/>
        </p:spPr>
        <p:txBody>
          <a:bodyPr wrap="square" lIns="0" tIns="0" rIns="0" bIns="0" rtlCol="0" anchor="ctr"/>
          <a:lstStyle/>
          <a:p>
            <a:pPr indent="0" marL="0">
              <a:buNone/>
            </a:pPr>
            <a:r>
              <a:rPr lang="en-US" sz="2000" b="1" dirty="0">
                <a:solidFill>
                  <a:schemeClr val="tx2"/>
                </a:solidFill>
              </a:rPr>
              <a:t>Structure</a:t>
            </a:r>
            <a:endParaRPr lang="en-US" sz="2000" dirty="0"/>
          </a:p>
        </p:txBody>
      </p:sp>
      <p:sp>
        <p:nvSpPr>
          <p:cNvPr id="8" name="Structure list"/>
          <p:cNvSpPr txBox="1"/>
          <p:nvPr/>
        </p:nvSpPr>
        <p:spPr>
          <a:xfrm>
            <a:off x="822960" y="2423160"/>
            <a:ext cx="4937760" cy="1234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Schema and column count</a:t>
            </a:r>
            <a:endParaRPr lang="en-US" sz="1400" dirty="0"/>
          </a:p>
          <a:p>
            <a:pPr marL="342900" indent="-342900">
              <a:spcAft>
                <a:spcPts val="800"/>
              </a:spcAft>
              <a:buSzPct val="100000"/>
              <a:buChar char="•"/>
            </a:pPr>
            <a:r>
              <a:rPr lang="en-US" sz="1400" dirty="0">
                <a:solidFill>
                  <a:schemeClr val="tx1"/>
                </a:solidFill>
              </a:rPr>
              <a:t>Data types (inferred from values)</a:t>
            </a:r>
            <a:endParaRPr lang="en-US" sz="1400" dirty="0"/>
          </a:p>
        </p:txBody>
      </p:sp>
      <p:sp>
        <p:nvSpPr>
          <p:cNvPr id="9" name="Completeness card"/>
          <p:cNvSpPr/>
          <p:nvPr/>
        </p:nvSpPr>
        <p:spPr>
          <a:xfrm>
            <a:off x="6172200" y="1463040"/>
            <a:ext cx="5440680" cy="2286000"/>
          </a:xfrm>
          <a:prstGeom prst="roundRect">
            <a:avLst>
              <a:gd name="adj" fmla="val 3200"/>
            </a:avLst>
          </a:prstGeom>
          <a:solidFill>
            <a:schemeClr val="bg2"/>
          </a:solidFill>
          <a:ln w="12700">
            <a:solidFill>
              <a:schemeClr val="bg2"/>
            </a:solidFill>
            <a:prstDash val="solid"/>
          </a:ln>
        </p:spPr>
      </p:sp>
      <p:sp>
        <p:nvSpPr>
          <p:cNvPr id="10" name="Completeness icon circle"/>
          <p:cNvSpPr/>
          <p:nvPr/>
        </p:nvSpPr>
        <p:spPr>
          <a:xfrm>
            <a:off x="6400800" y="1691640"/>
            <a:ext cx="594360" cy="594360"/>
          </a:xfrm>
          <a:prstGeom prst="ellipse">
            <a:avLst/>
          </a:prstGeom>
          <a:solidFill>
            <a:schemeClr val="accent1"/>
          </a:solidFill>
          <a:ln w="12700">
            <a:solidFill>
              <a:schemeClr val="accent1"/>
            </a:solidFill>
            <a:prstDash val="solid"/>
          </a:ln>
        </p:spPr>
      </p:sp>
      <p:pic>
        <p:nvPicPr>
          <p:cNvPr id="11" name="Image 1" descr="Completeness">    </p:cNvPr>
          <p:cNvPicPr>
            <a:picLocks noChangeAspect="1"/>
          </p:cNvPicPr>
          <p:nvPr/>
        </p:nvPicPr>
        <p:blipFill>
          <a:blip r:embed="rId2"/>
          <a:stretch>
            <a:fillRect/>
          </a:stretch>
        </p:blipFill>
        <p:spPr>
          <a:xfrm>
            <a:off x="6549390" y="1840230"/>
            <a:ext cx="297180" cy="297180"/>
          </a:xfrm>
          <a:prstGeom prst="rect">
            <a:avLst/>
          </a:prstGeom>
        </p:spPr>
      </p:pic>
      <p:sp>
        <p:nvSpPr>
          <p:cNvPr id="12" name="Completeness heading"/>
          <p:cNvSpPr txBox="1"/>
          <p:nvPr/>
        </p:nvSpPr>
        <p:spPr>
          <a:xfrm>
            <a:off x="7178040" y="1691640"/>
            <a:ext cx="4206240" cy="594360"/>
          </a:xfrm>
          <a:prstGeom prst="rect">
            <a:avLst/>
          </a:prstGeom>
          <a:noFill/>
          <a:ln/>
        </p:spPr>
        <p:txBody>
          <a:bodyPr wrap="square" lIns="0" tIns="0" rIns="0" bIns="0" rtlCol="0" anchor="ctr"/>
          <a:lstStyle/>
          <a:p>
            <a:pPr indent="0" marL="0">
              <a:buNone/>
            </a:pPr>
            <a:r>
              <a:rPr lang="en-US" sz="2000" b="1" dirty="0">
                <a:solidFill>
                  <a:schemeClr val="tx2"/>
                </a:solidFill>
              </a:rPr>
              <a:t>Completeness</a:t>
            </a:r>
            <a:endParaRPr lang="en-US" sz="2000" dirty="0"/>
          </a:p>
        </p:txBody>
      </p:sp>
      <p:sp>
        <p:nvSpPr>
          <p:cNvPr id="13" name="Completeness list"/>
          <p:cNvSpPr txBox="1"/>
          <p:nvPr/>
        </p:nvSpPr>
        <p:spPr>
          <a:xfrm>
            <a:off x="6446520" y="2423160"/>
            <a:ext cx="4937760" cy="1234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Row count with tolerance</a:t>
            </a:r>
            <a:endParaRPr lang="en-US" sz="1400" dirty="0"/>
          </a:p>
          <a:p>
            <a:pPr marL="342900" indent="-342900">
              <a:spcAft>
                <a:spcPts val="800"/>
              </a:spcAft>
              <a:buSzPct val="100000"/>
              <a:buChar char="•"/>
            </a:pPr>
            <a:r>
              <a:rPr lang="en-US" sz="1400" dirty="0">
                <a:solidFill>
                  <a:schemeClr val="tx1"/>
                </a:solidFill>
              </a:rPr>
              <a:t>Missing and extra rows</a:t>
            </a:r>
            <a:endParaRPr lang="en-US" sz="1400" dirty="0"/>
          </a:p>
          <a:p>
            <a:pPr marL="342900" indent="-342900">
              <a:spcAft>
                <a:spcPts val="800"/>
              </a:spcAft>
              <a:buSzPct val="100000"/>
              <a:buChar char="•"/>
            </a:pPr>
            <a:r>
              <a:rPr lang="en-US" sz="1400" dirty="0">
                <a:solidFill>
                  <a:schemeClr val="tx1"/>
                </a:solidFill>
              </a:rPr>
              <a:t>NULL / NA and completeness score</a:t>
            </a:r>
            <a:endParaRPr lang="en-US" sz="1400" dirty="0"/>
          </a:p>
        </p:txBody>
      </p:sp>
      <p:sp>
        <p:nvSpPr>
          <p:cNvPr id="14" name="Correctness card"/>
          <p:cNvSpPr/>
          <p:nvPr/>
        </p:nvSpPr>
        <p:spPr>
          <a:xfrm>
            <a:off x="548640" y="3931920"/>
            <a:ext cx="5440680" cy="2286000"/>
          </a:xfrm>
          <a:prstGeom prst="roundRect">
            <a:avLst>
              <a:gd name="adj" fmla="val 3200"/>
            </a:avLst>
          </a:prstGeom>
          <a:solidFill>
            <a:schemeClr val="bg2"/>
          </a:solidFill>
          <a:ln w="12700">
            <a:solidFill>
              <a:schemeClr val="bg2"/>
            </a:solidFill>
            <a:prstDash val="solid"/>
          </a:ln>
        </p:spPr>
      </p:sp>
      <p:sp>
        <p:nvSpPr>
          <p:cNvPr id="15" name="Correctness icon circle"/>
          <p:cNvSpPr/>
          <p:nvPr/>
        </p:nvSpPr>
        <p:spPr>
          <a:xfrm>
            <a:off x="777240" y="4160520"/>
            <a:ext cx="594360" cy="594360"/>
          </a:xfrm>
          <a:prstGeom prst="ellipse">
            <a:avLst/>
          </a:prstGeom>
          <a:solidFill>
            <a:schemeClr val="accent1"/>
          </a:solidFill>
          <a:ln w="12700">
            <a:solidFill>
              <a:schemeClr val="accent1"/>
            </a:solidFill>
            <a:prstDash val="solid"/>
          </a:ln>
        </p:spPr>
      </p:sp>
      <p:pic>
        <p:nvPicPr>
          <p:cNvPr id="16" name="Image 2" descr="Correctness">    </p:cNvPr>
          <p:cNvPicPr>
            <a:picLocks noChangeAspect="1"/>
          </p:cNvPicPr>
          <p:nvPr/>
        </p:nvPicPr>
        <p:blipFill>
          <a:blip r:embed="rId3"/>
          <a:stretch>
            <a:fillRect/>
          </a:stretch>
        </p:blipFill>
        <p:spPr>
          <a:xfrm>
            <a:off x="925830" y="4309110"/>
            <a:ext cx="297180" cy="297180"/>
          </a:xfrm>
          <a:prstGeom prst="rect">
            <a:avLst/>
          </a:prstGeom>
        </p:spPr>
      </p:pic>
      <p:sp>
        <p:nvSpPr>
          <p:cNvPr id="17" name="Correctness heading"/>
          <p:cNvSpPr txBox="1"/>
          <p:nvPr/>
        </p:nvSpPr>
        <p:spPr>
          <a:xfrm>
            <a:off x="1554480" y="4160520"/>
            <a:ext cx="4206240" cy="594360"/>
          </a:xfrm>
          <a:prstGeom prst="rect">
            <a:avLst/>
          </a:prstGeom>
          <a:noFill/>
          <a:ln/>
        </p:spPr>
        <p:txBody>
          <a:bodyPr wrap="square" lIns="0" tIns="0" rIns="0" bIns="0" rtlCol="0" anchor="ctr"/>
          <a:lstStyle/>
          <a:p>
            <a:pPr indent="0" marL="0">
              <a:buNone/>
            </a:pPr>
            <a:r>
              <a:rPr lang="en-US" sz="2000" b="1" dirty="0">
                <a:solidFill>
                  <a:schemeClr val="tx2"/>
                </a:solidFill>
              </a:rPr>
              <a:t>Correctness</a:t>
            </a:r>
            <a:endParaRPr lang="en-US" sz="2000" dirty="0"/>
          </a:p>
        </p:txBody>
      </p:sp>
      <p:sp>
        <p:nvSpPr>
          <p:cNvPr id="18" name="Correctness list"/>
          <p:cNvSpPr txBox="1"/>
          <p:nvPr/>
        </p:nvSpPr>
        <p:spPr>
          <a:xfrm>
            <a:off x="822960" y="4892040"/>
            <a:ext cx="4937760" cy="1234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Cell-level mismatches</a:t>
            </a:r>
            <a:endParaRPr lang="en-US" sz="1400" dirty="0"/>
          </a:p>
          <a:p>
            <a:pPr marL="342900" indent="-342900">
              <a:spcAft>
                <a:spcPts val="800"/>
              </a:spcAft>
              <a:buSzPct val="100000"/>
              <a:buChar char="•"/>
            </a:pPr>
            <a:r>
              <a:rPr lang="en-US" sz="1400" dirty="0">
                <a:solidFill>
                  <a:schemeClr val="tx1"/>
                </a:solidFill>
              </a:rPr>
              <a:t>Duplicate keys and rows</a:t>
            </a:r>
            <a:endParaRPr lang="en-US" sz="1400" dirty="0"/>
          </a:p>
          <a:p>
            <a:pPr marL="342900" indent="-342900">
              <a:spcAft>
                <a:spcPts val="800"/>
              </a:spcAft>
              <a:buSzPct val="100000"/>
              <a:buChar char="•"/>
            </a:pPr>
            <a:r>
              <a:rPr lang="en-US" sz="1400" dirty="0">
                <a:solidFill>
                  <a:schemeClr val="tx1"/>
                </a:solidFill>
              </a:rPr>
              <a:t>Aggregations on critical columns</a:t>
            </a:r>
            <a:endParaRPr lang="en-US" sz="1400" dirty="0"/>
          </a:p>
          <a:p>
            <a:pPr marL="342900" indent="-342900">
              <a:spcAft>
                <a:spcPts val="800"/>
              </a:spcAft>
              <a:buSzPct val="100000"/>
              <a:buChar char="•"/>
            </a:pPr>
            <a:r>
              <a:rPr lang="en-US" sz="1400" dirty="0">
                <a:solidFill>
                  <a:schemeClr val="tx1"/>
                </a:solidFill>
              </a:rPr>
              <a:t>File checksum (SHA-256)</a:t>
            </a:r>
            <a:endParaRPr lang="en-US" sz="1400" dirty="0"/>
          </a:p>
        </p:txBody>
      </p:sp>
      <p:sp>
        <p:nvSpPr>
          <p:cNvPr id="19" name="Insight card"/>
          <p:cNvSpPr/>
          <p:nvPr/>
        </p:nvSpPr>
        <p:spPr>
          <a:xfrm>
            <a:off x="6172200" y="3931920"/>
            <a:ext cx="5440680" cy="2286000"/>
          </a:xfrm>
          <a:prstGeom prst="roundRect">
            <a:avLst>
              <a:gd name="adj" fmla="val 3200"/>
            </a:avLst>
          </a:prstGeom>
          <a:solidFill>
            <a:schemeClr val="bg2"/>
          </a:solidFill>
          <a:ln w="12700">
            <a:solidFill>
              <a:schemeClr val="bg2"/>
            </a:solidFill>
            <a:prstDash val="solid"/>
          </a:ln>
        </p:spPr>
      </p:sp>
      <p:sp>
        <p:nvSpPr>
          <p:cNvPr id="20" name="Insight icon circle"/>
          <p:cNvSpPr/>
          <p:nvPr/>
        </p:nvSpPr>
        <p:spPr>
          <a:xfrm>
            <a:off x="6400800" y="4160520"/>
            <a:ext cx="594360" cy="594360"/>
          </a:xfrm>
          <a:prstGeom prst="ellipse">
            <a:avLst/>
          </a:prstGeom>
          <a:solidFill>
            <a:schemeClr val="accent1"/>
          </a:solidFill>
          <a:ln w="12700">
            <a:solidFill>
              <a:schemeClr val="accent1"/>
            </a:solidFill>
            <a:prstDash val="solid"/>
          </a:ln>
        </p:spPr>
      </p:sp>
      <p:pic>
        <p:nvPicPr>
          <p:cNvPr id="21" name="Image 3" descr="Insight">    </p:cNvPr>
          <p:cNvPicPr>
            <a:picLocks noChangeAspect="1"/>
          </p:cNvPicPr>
          <p:nvPr/>
        </p:nvPicPr>
        <p:blipFill>
          <a:blip r:embed="rId4"/>
          <a:stretch>
            <a:fillRect/>
          </a:stretch>
        </p:blipFill>
        <p:spPr>
          <a:xfrm>
            <a:off x="6549390" y="4309110"/>
            <a:ext cx="297180" cy="297180"/>
          </a:xfrm>
          <a:prstGeom prst="rect">
            <a:avLst/>
          </a:prstGeom>
        </p:spPr>
      </p:pic>
      <p:sp>
        <p:nvSpPr>
          <p:cNvPr id="22" name="Insight heading"/>
          <p:cNvSpPr txBox="1"/>
          <p:nvPr/>
        </p:nvSpPr>
        <p:spPr>
          <a:xfrm>
            <a:off x="7178040" y="4160520"/>
            <a:ext cx="4206240" cy="594360"/>
          </a:xfrm>
          <a:prstGeom prst="rect">
            <a:avLst/>
          </a:prstGeom>
          <a:noFill/>
          <a:ln/>
        </p:spPr>
        <p:txBody>
          <a:bodyPr wrap="square" lIns="0" tIns="0" rIns="0" bIns="0" rtlCol="0" anchor="ctr"/>
          <a:lstStyle/>
          <a:p>
            <a:pPr indent="0" marL="0">
              <a:buNone/>
            </a:pPr>
            <a:r>
              <a:rPr lang="en-US" sz="2000" b="1" dirty="0">
                <a:solidFill>
                  <a:schemeClr val="tx2"/>
                </a:solidFill>
              </a:rPr>
              <a:t>Insight</a:t>
            </a:r>
            <a:endParaRPr lang="en-US" sz="2000" dirty="0"/>
          </a:p>
        </p:txBody>
      </p:sp>
      <p:sp>
        <p:nvSpPr>
          <p:cNvPr id="23" name="Insight list"/>
          <p:cNvSpPr txBox="1"/>
          <p:nvPr/>
        </p:nvSpPr>
        <p:spPr>
          <a:xfrm>
            <a:off x="6446520" y="4892040"/>
            <a:ext cx="4937760" cy="1234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Value distribution differences</a:t>
            </a:r>
            <a:endParaRPr lang="en-US" sz="1400" dirty="0"/>
          </a:p>
          <a:p>
            <a:pPr marL="342900" indent="-342900">
              <a:spcAft>
                <a:spcPts val="800"/>
              </a:spcAft>
              <a:buSzPct val="100000"/>
              <a:buChar char="•"/>
            </a:pPr>
            <a:r>
              <a:rPr lang="en-US" sz="1400" dirty="0">
                <a:solidFill>
                  <a:schemeClr val="tx1"/>
                </a:solidFill>
              </a:rPr>
              <a:t>Row counts by group</a:t>
            </a:r>
            <a:endParaRPr lang="en-US" sz="1400" dirty="0"/>
          </a:p>
          <a:p>
            <a:pPr marL="342900" indent="-342900">
              <a:spcAft>
                <a:spcPts val="800"/>
              </a:spcAft>
              <a:buSzPct val="100000"/>
              <a:buChar char="•"/>
            </a:pPr>
            <a:r>
              <a:rPr lang="en-US" sz="1400" dirty="0">
                <a:solidFill>
                  <a:schemeClr val="tx1"/>
                </a:solidFill>
              </a:rPr>
              <a:t>Per-column profile</a:t>
            </a:r>
            <a:endParaRPr lang="en-US" sz="14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Every row gets a status</a:t>
            </a:r>
            <a:endParaRPr lang="en-US" sz="3200" dirty="0"/>
          </a:p>
        </p:txBody>
      </p:sp>
      <p:graphicFrame>
        <p:nvGraphicFramePr>
          <p:cNvPr id="7" name="Sample full data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57200"/>
                <a:gridCol w="2194560"/>
                <a:gridCol w="1280160"/>
                <a:gridCol w="1234440"/>
                <a:gridCol w="1234440"/>
                <a:gridCol w="1097280"/>
                <a:gridCol w="1097280"/>
                <a:gridCol w="1234440"/>
                <a:gridCol w="1234440"/>
              </a:tblGrid>
              <a:tr h="411480">
                <a:tc>
                  <a:txBody>
                    <a:bodyPr/>
                    <a:lstStyle/>
                    <a:p>
                      <a:pPr indent="0" marL="0">
                        <a:buNone/>
                      </a:pPr>
                      <a:r>
                        <a:rPr lang="en-US" sz="1200" b="1" dirty="0">
                          <a:solidFill>
                            <a:schemeClr val="bg1"/>
                          </a:solidFill>
                        </a:rPr>
                        <a:t>id</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status</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mismatched</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name_source</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name_target</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amt_source</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amt_target</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city_source</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city_target</a:t>
                      </a:r>
                      <a:endParaRPr lang="en-US" sz="12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r>
              <a:tr h="411480">
                <a:tc>
                  <a:txBody>
                    <a:bodyPr/>
                    <a:lstStyle/>
                    <a:p>
                      <a:pPr indent="0" marL="0">
                        <a:buNone/>
                      </a:pPr>
                      <a:r>
                        <a:rPr lang="en-US" sz="1300" dirty="0">
                          <a:solidFill>
                            <a:schemeClr val="tx1"/>
                          </a:solidFill>
                        </a:rPr>
                        <a:t>2</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MISSING_IN_TARGET</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 </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Bob</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20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Delhi</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r>
              <a:tr h="411480">
                <a:tc>
                  <a:txBody>
                    <a:bodyPr/>
                    <a:lstStyle/>
                    <a:p>
                      <a:pPr indent="0" marL="0">
                        <a:buNone/>
                      </a:pPr>
                      <a:r>
                        <a:rPr lang="en-US" sz="1300" dirty="0">
                          <a:solidFill>
                            <a:schemeClr val="tx1"/>
                          </a:solidFill>
                        </a:rPr>
                        <a:t>3</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MISMATCH</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amt, city</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Carol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Carol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300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3000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Chennai</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r>
              <a:tr h="411480">
                <a:tc>
                  <a:txBody>
                    <a:bodyPr/>
                    <a:lstStyle/>
                    <a:p>
                      <a:pPr indent="0" marL="0">
                        <a:buNone/>
                      </a:pPr>
                      <a:r>
                        <a:rPr lang="en-US" sz="1300" dirty="0">
                          <a:solidFill>
                            <a:schemeClr val="tx1"/>
                          </a:solidFill>
                        </a:rPr>
                        <a:t>4</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MISMATCH</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name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dave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Dave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40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Goa</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Goa</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11480">
                <a:tc>
                  <a:txBody>
                    <a:bodyPr/>
                    <a:lstStyle/>
                    <a:p>
                      <a:pPr indent="0" marL="0">
                        <a:buNone/>
                      </a:pPr>
                      <a:r>
                        <a:rPr lang="en-US" sz="1300" dirty="0">
                          <a:solidFill>
                            <a:schemeClr val="tx1"/>
                          </a:solidFill>
                        </a:rPr>
                        <a:t>6</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MISMATCH</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dirty="0">
                          <a:solidFill>
                            <a:schemeClr val="tx1"/>
                          </a:solidFill>
                        </a:rPr>
                        <a:t>city</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Frank</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Frank</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Surat</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C9CD"/>
                    </a:solidFill>
                  </a:tcPr>
                </a:tc>
              </a:tr>
              <a:tr h="411480">
                <a:tc>
                  <a:txBody>
                    <a:bodyPr/>
                    <a:lstStyle/>
                    <a:p>
                      <a:pPr indent="0" marL="0">
                        <a:buNone/>
                      </a:pPr>
                      <a:r>
                        <a:rPr lang="en-US" sz="1300" dirty="0">
                          <a:solidFill>
                            <a:schemeClr val="tx1"/>
                          </a:solidFill>
                        </a:rPr>
                        <a:t>7</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EXTRA_IN_TARGET</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 </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Gina</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70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i="1" dirty="0">
                          <a:solidFill>
                            <a:schemeClr val="accent6"/>
                          </a:solidFill>
                        </a:rPr>
                        <a:t>NULL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c>
                  <a:txBody>
                    <a:bodyPr/>
                    <a:lstStyle/>
                    <a:p>
                      <a:pPr indent="0" marL="0">
                        <a:buNone/>
                      </a:pPr>
                      <a:r>
                        <a:rPr lang="en-US" sz="1300" dirty="0">
                          <a:solidFill>
                            <a:schemeClr val="tx1"/>
                          </a:solidFill>
                        </a:rPr>
                        <a:t>Kochi</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CEBB7"/>
                    </a:solidFill>
                  </a:tcPr>
                </a:tc>
              </a:tr>
              <a:tr h="411480">
                <a:tc>
                  <a:txBody>
                    <a:bodyPr/>
                    <a:lstStyle/>
                    <a:p>
                      <a:pPr indent="0" marL="0">
                        <a:buNone/>
                      </a:pPr>
                      <a:r>
                        <a:rPr lang="en-US" sz="1300" dirty="0">
                          <a:solidFill>
                            <a:schemeClr val="tx1"/>
                          </a:solidFill>
                        </a:rPr>
                        <a:t>1</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MATCHED</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 </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Alice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Alice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10.50</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10.5</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Pune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Pune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5" name="Sample caption"/>
          <p:cNvSpPr txBox="1"/>
          <p:nvPr/>
        </p:nvSpPr>
        <p:spPr>
          <a:xfrm>
            <a:off x="548640" y="4572000"/>
            <a:ext cx="7315200" cy="320040"/>
          </a:xfrm>
          <a:prstGeom prst="rect">
            <a:avLst/>
          </a:prstGeom>
          <a:noFill/>
          <a:ln/>
        </p:spPr>
        <p:txBody>
          <a:bodyPr wrap="square" lIns="0" tIns="0" rIns="0" bIns="0" rtlCol="0" anchor="ctr"/>
          <a:lstStyle/>
          <a:p>
            <a:pPr indent="0" marL="0">
              <a:buNone/>
            </a:pPr>
            <a:r>
              <a:rPr lang="en-US" sz="1200" i="1" dirty="0">
                <a:solidFill>
                  <a:schemeClr val="accent6"/>
                </a:solidFill>
              </a:rPr>
              <a:t>Sample output, illustrative data</a:t>
            </a:r>
            <a:endParaRPr lang="en-US" sz="1200" dirty="0"/>
          </a:p>
        </p:txBody>
      </p:sp>
      <p:sp>
        <p:nvSpPr>
          <p:cNvPr id="6" name="Status point 1"/>
          <p:cNvSpPr txBox="1"/>
          <p:nvPr/>
        </p:nvSpPr>
        <p:spPr>
          <a:xfrm>
            <a:off x="548640" y="5120640"/>
            <a:ext cx="3474720" cy="914400"/>
          </a:xfrm>
          <a:prstGeom prst="rect">
            <a:avLst/>
          </a:prstGeom>
          <a:noFill/>
          <a:ln/>
        </p:spPr>
        <p:txBody>
          <a:bodyPr wrap="square" lIns="0" tIns="0" rIns="0" bIns="0" rtlCol="0" anchor="t"/>
          <a:lstStyle/>
          <a:p>
            <a:pPr indent="0" marL="0">
              <a:buNone/>
            </a:pPr>
            <a:r>
              <a:rPr lang="en-US" sz="2000" b="1" dirty="0">
                <a:solidFill>
                  <a:schemeClr val="accent1"/>
                </a:solidFill>
              </a:rPr>
              <a:t>Differing cells red</a:t>
            </a:r>
            <a:endParaRPr lang="en-US" sz="2000" dirty="0"/>
          </a:p>
          <a:p>
            <a:pPr indent="0" marL="0">
              <a:buNone/>
            </a:pPr>
            <a:r>
              <a:rPr lang="en-US" sz="1600" dirty="0">
                <a:solidFill>
                  <a:schemeClr val="tx1"/>
                </a:solidFill>
              </a:rPr>
              <a:t>Missing and extra rows yellow</a:t>
            </a:r>
            <a:endParaRPr lang="en-US" sz="2000" dirty="0"/>
          </a:p>
        </p:txBody>
      </p:sp>
      <p:sp>
        <p:nvSpPr>
          <p:cNvPr id="7" name="Status point 2"/>
          <p:cNvSpPr txBox="1"/>
          <p:nvPr/>
        </p:nvSpPr>
        <p:spPr>
          <a:xfrm>
            <a:off x="4297680" y="5120640"/>
            <a:ext cx="3474720" cy="914400"/>
          </a:xfrm>
          <a:prstGeom prst="rect">
            <a:avLst/>
          </a:prstGeom>
          <a:noFill/>
          <a:ln/>
        </p:spPr>
        <p:txBody>
          <a:bodyPr wrap="square" lIns="0" tIns="0" rIns="0" bIns="0" rtlCol="0" anchor="t"/>
          <a:lstStyle/>
          <a:p>
            <a:pPr indent="0" marL="0">
              <a:buNone/>
            </a:pPr>
            <a:r>
              <a:rPr lang="en-US" sz="2000" b="1" dirty="0">
                <a:solidFill>
                  <a:schemeClr val="accent1"/>
                </a:solidFill>
              </a:rPr>
              <a:t>Order-independent</a:t>
            </a:r>
            <a:endParaRPr lang="en-US" sz="2000" dirty="0"/>
          </a:p>
          <a:p>
            <a:pPr indent="0" marL="0">
              <a:buNone/>
            </a:pPr>
            <a:r>
              <a:rPr lang="en-US" sz="1600" dirty="0">
                <a:solidFill>
                  <a:schemeClr val="tx1"/>
                </a:solidFill>
              </a:rPr>
              <a:t>Matched by business key</a:t>
            </a:r>
            <a:endParaRPr lang="en-US" sz="2000" dirty="0"/>
          </a:p>
        </p:txBody>
      </p:sp>
      <p:sp>
        <p:nvSpPr>
          <p:cNvPr id="8" name="Status point 3"/>
          <p:cNvSpPr txBox="1"/>
          <p:nvPr/>
        </p:nvSpPr>
        <p:spPr>
          <a:xfrm>
            <a:off x="8046720" y="5120640"/>
            <a:ext cx="3474720" cy="914400"/>
          </a:xfrm>
          <a:prstGeom prst="rect">
            <a:avLst/>
          </a:prstGeom>
          <a:noFill/>
          <a:ln/>
        </p:spPr>
        <p:txBody>
          <a:bodyPr wrap="square" lIns="0" tIns="0" rIns="0" bIns="0" rtlCol="0" anchor="t"/>
          <a:lstStyle/>
          <a:p>
            <a:pPr indent="0" marL="0">
              <a:buNone/>
            </a:pPr>
            <a:r>
              <a:rPr lang="en-US" sz="2000" b="1" dirty="0">
                <a:solidFill>
                  <a:schemeClr val="accent1"/>
                </a:solidFill>
              </a:rPr>
              <a:t>Duplicates paired</a:t>
            </a:r>
            <a:endParaRPr lang="en-US" sz="2000" dirty="0"/>
          </a:p>
          <a:p>
            <a:pPr indent="0" marL="0">
              <a:buNone/>
            </a:pPr>
            <a:r>
              <a:rPr lang="en-US" sz="1600" dirty="0">
                <a:solidFill>
                  <a:schemeClr val="tx1"/>
                </a:solidFill>
              </a:rPr>
              <a:t>Matched rows counted, listed on request</a:t>
            </a:r>
            <a:endParaRPr lang="en-US" sz="20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rows differ, in one sentence</a:t>
            </a:r>
            <a:endParaRPr lang="en-US" sz="3200" dirty="0"/>
          </a:p>
        </p:txBody>
      </p:sp>
      <p:sp>
        <p:nvSpPr>
          <p:cNvPr id="4" name="Insight callout"/>
          <p:cNvSpPr/>
          <p:nvPr/>
        </p:nvSpPr>
        <p:spPr>
          <a:xfrm>
            <a:off x="548640" y="1554480"/>
            <a:ext cx="3931920" cy="4206240"/>
          </a:xfrm>
          <a:prstGeom prst="roundRect">
            <a:avLst>
              <a:gd name="adj" fmla="val 2326"/>
            </a:avLst>
          </a:prstGeom>
          <a:solidFill>
            <a:schemeClr val="tx2"/>
          </a:solidFill>
          <a:ln w="12700">
            <a:solidFill>
              <a:schemeClr val="tx2"/>
            </a:solidFill>
            <a:prstDash val="solid"/>
          </a:ln>
        </p:spPr>
      </p:sp>
      <p:sp>
        <p:nvSpPr>
          <p:cNvPr id="5" name="Insight callout text"/>
          <p:cNvSpPr txBox="1"/>
          <p:nvPr/>
        </p:nvSpPr>
        <p:spPr>
          <a:xfrm>
            <a:off x="868680" y="1828800"/>
            <a:ext cx="3291840" cy="3657600"/>
          </a:xfrm>
          <a:prstGeom prst="rect">
            <a:avLst/>
          </a:prstGeom>
          <a:noFill/>
          <a:ln/>
        </p:spPr>
        <p:txBody>
          <a:bodyPr wrap="square" lIns="0" tIns="0" rIns="0" bIns="0" rtlCol="0" anchor="ctr"/>
          <a:lstStyle/>
          <a:p>
            <a:pPr indent="0" marL="0">
              <a:buNone/>
            </a:pPr>
            <a:r>
              <a:rPr lang="en-US" sz="2400" b="1" dirty="0">
                <a:solidFill>
                  <a:schemeClr val="bg1"/>
                </a:solidFill>
              </a:rPr>
              <a:t>A large mismatch count usually has a few root causes. DataRecon names them.</a:t>
            </a:r>
            <a:endParaRPr lang="en-US" sz="2400" dirty="0"/>
          </a:p>
        </p:txBody>
      </p:sp>
      <p:sp>
        <p:nvSpPr>
          <p:cNvPr id="6" name="Cause Letter case only"/>
          <p:cNvSpPr/>
          <p:nvPr/>
        </p:nvSpPr>
        <p:spPr>
          <a:xfrm>
            <a:off x="4754880" y="1554480"/>
            <a:ext cx="3291840" cy="566928"/>
          </a:xfrm>
          <a:prstGeom prst="roundRect">
            <a:avLst>
              <a:gd name="adj" fmla="val 48387"/>
            </a:avLst>
          </a:prstGeom>
          <a:solidFill>
            <a:schemeClr val="bg2"/>
          </a:solidFill>
          <a:ln w="12700">
            <a:solidFill>
              <a:schemeClr val="bg2"/>
            </a:solidFill>
            <a:prstDash val="solid"/>
          </a:ln>
        </p:spPr>
      </p:sp>
      <p:sp>
        <p:nvSpPr>
          <p:cNvPr id="7" name="Cause Letter case only text"/>
          <p:cNvSpPr txBox="1"/>
          <p:nvPr/>
        </p:nvSpPr>
        <p:spPr>
          <a:xfrm>
            <a:off x="4937760" y="1554480"/>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Letter case only</a:t>
            </a:r>
            <a:endParaRPr lang="en-US" sz="1400" dirty="0"/>
          </a:p>
        </p:txBody>
      </p:sp>
      <p:sp>
        <p:nvSpPr>
          <p:cNvPr id="8" name="Cause Whitespace only"/>
          <p:cNvSpPr/>
          <p:nvPr/>
        </p:nvSpPr>
        <p:spPr>
          <a:xfrm>
            <a:off x="8229600" y="1554480"/>
            <a:ext cx="3291840" cy="566928"/>
          </a:xfrm>
          <a:prstGeom prst="roundRect">
            <a:avLst>
              <a:gd name="adj" fmla="val 48387"/>
            </a:avLst>
          </a:prstGeom>
          <a:solidFill>
            <a:schemeClr val="bg2"/>
          </a:solidFill>
          <a:ln w="12700">
            <a:solidFill>
              <a:schemeClr val="bg2"/>
            </a:solidFill>
            <a:prstDash val="solid"/>
          </a:ln>
        </p:spPr>
      </p:sp>
      <p:sp>
        <p:nvSpPr>
          <p:cNvPr id="9" name="Cause Whitespace only text"/>
          <p:cNvSpPr txBox="1"/>
          <p:nvPr/>
        </p:nvSpPr>
        <p:spPr>
          <a:xfrm>
            <a:off x="8412480" y="1554480"/>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Whitespace only</a:t>
            </a:r>
            <a:endParaRPr lang="en-US" sz="1400" dirty="0"/>
          </a:p>
        </p:txBody>
      </p:sp>
      <p:sp>
        <p:nvSpPr>
          <p:cNvPr id="10" name="Cause Truncated values"/>
          <p:cNvSpPr/>
          <p:nvPr/>
        </p:nvSpPr>
        <p:spPr>
          <a:xfrm>
            <a:off x="4754880" y="2267712"/>
            <a:ext cx="3291840" cy="566928"/>
          </a:xfrm>
          <a:prstGeom prst="roundRect">
            <a:avLst>
              <a:gd name="adj" fmla="val 48387"/>
            </a:avLst>
          </a:prstGeom>
          <a:solidFill>
            <a:schemeClr val="bg2"/>
          </a:solidFill>
          <a:ln w="12700">
            <a:solidFill>
              <a:schemeClr val="bg2"/>
            </a:solidFill>
            <a:prstDash val="solid"/>
          </a:ln>
        </p:spPr>
      </p:sp>
      <p:sp>
        <p:nvSpPr>
          <p:cNvPr id="11" name="Cause Truncated values text"/>
          <p:cNvSpPr txBox="1"/>
          <p:nvPr/>
        </p:nvSpPr>
        <p:spPr>
          <a:xfrm>
            <a:off x="4937760" y="2267712"/>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Truncated values</a:t>
            </a:r>
            <a:endParaRPr lang="en-US" sz="1400" dirty="0"/>
          </a:p>
        </p:txBody>
      </p:sp>
      <p:sp>
        <p:nvSpPr>
          <p:cNvPr id="12" name="Cause Column arrived NULL"/>
          <p:cNvSpPr/>
          <p:nvPr/>
        </p:nvSpPr>
        <p:spPr>
          <a:xfrm>
            <a:off x="8229600" y="2267712"/>
            <a:ext cx="3291840" cy="566928"/>
          </a:xfrm>
          <a:prstGeom prst="roundRect">
            <a:avLst>
              <a:gd name="adj" fmla="val 48387"/>
            </a:avLst>
          </a:prstGeom>
          <a:solidFill>
            <a:schemeClr val="bg2"/>
          </a:solidFill>
          <a:ln w="12700">
            <a:solidFill>
              <a:schemeClr val="bg2"/>
            </a:solidFill>
            <a:prstDash val="solid"/>
          </a:ln>
        </p:spPr>
      </p:sp>
      <p:sp>
        <p:nvSpPr>
          <p:cNvPr id="13" name="Cause Column arrived NULL text"/>
          <p:cNvSpPr txBox="1"/>
          <p:nvPr/>
        </p:nvSpPr>
        <p:spPr>
          <a:xfrm>
            <a:off x="8412480" y="2267712"/>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Column arrived NULL</a:t>
            </a:r>
            <a:endParaRPr lang="en-US" sz="1400" dirty="0"/>
          </a:p>
        </p:txBody>
      </p:sp>
      <p:sp>
        <p:nvSpPr>
          <p:cNvPr id="14" name="Cause Sign flipped"/>
          <p:cNvSpPr/>
          <p:nvPr/>
        </p:nvSpPr>
        <p:spPr>
          <a:xfrm>
            <a:off x="4754880" y="2980944"/>
            <a:ext cx="3291840" cy="566928"/>
          </a:xfrm>
          <a:prstGeom prst="roundRect">
            <a:avLst>
              <a:gd name="adj" fmla="val 48387"/>
            </a:avLst>
          </a:prstGeom>
          <a:solidFill>
            <a:schemeClr val="bg2"/>
          </a:solidFill>
          <a:ln w="12700">
            <a:solidFill>
              <a:schemeClr val="bg2"/>
            </a:solidFill>
            <a:prstDash val="solid"/>
          </a:ln>
        </p:spPr>
      </p:sp>
      <p:sp>
        <p:nvSpPr>
          <p:cNvPr id="15" name="Cause Sign flipped text"/>
          <p:cNvSpPr txBox="1"/>
          <p:nvPr/>
        </p:nvSpPr>
        <p:spPr>
          <a:xfrm>
            <a:off x="4937760" y="2980944"/>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Sign flipped</a:t>
            </a:r>
            <a:endParaRPr lang="en-US" sz="1400" dirty="0"/>
          </a:p>
        </p:txBody>
      </p:sp>
      <p:sp>
        <p:nvSpPr>
          <p:cNvPr id="16" name="Cause Exactly N times larger"/>
          <p:cNvSpPr/>
          <p:nvPr/>
        </p:nvSpPr>
        <p:spPr>
          <a:xfrm>
            <a:off x="8229600" y="2980944"/>
            <a:ext cx="3291840" cy="566928"/>
          </a:xfrm>
          <a:prstGeom prst="roundRect">
            <a:avLst>
              <a:gd name="adj" fmla="val 48387"/>
            </a:avLst>
          </a:prstGeom>
          <a:solidFill>
            <a:schemeClr val="bg2"/>
          </a:solidFill>
          <a:ln w="12700">
            <a:solidFill>
              <a:schemeClr val="bg2"/>
            </a:solidFill>
            <a:prstDash val="solid"/>
          </a:ln>
        </p:spPr>
      </p:sp>
      <p:sp>
        <p:nvSpPr>
          <p:cNvPr id="17" name="Cause Exactly N times larger text"/>
          <p:cNvSpPr txBox="1"/>
          <p:nvPr/>
        </p:nvSpPr>
        <p:spPr>
          <a:xfrm>
            <a:off x="8412480" y="2980944"/>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Exactly N times larger</a:t>
            </a:r>
            <a:endParaRPr lang="en-US" sz="1400" dirty="0"/>
          </a:p>
        </p:txBody>
      </p:sp>
      <p:sp>
        <p:nvSpPr>
          <p:cNvPr id="18" name="Cause Constant offset"/>
          <p:cNvSpPr/>
          <p:nvPr/>
        </p:nvSpPr>
        <p:spPr>
          <a:xfrm>
            <a:off x="4754880" y="3694176"/>
            <a:ext cx="3291840" cy="566928"/>
          </a:xfrm>
          <a:prstGeom prst="roundRect">
            <a:avLst>
              <a:gd name="adj" fmla="val 48387"/>
            </a:avLst>
          </a:prstGeom>
          <a:solidFill>
            <a:schemeClr val="bg2"/>
          </a:solidFill>
          <a:ln w="12700">
            <a:solidFill>
              <a:schemeClr val="bg2"/>
            </a:solidFill>
            <a:prstDash val="solid"/>
          </a:ln>
        </p:spPr>
      </p:sp>
      <p:sp>
        <p:nvSpPr>
          <p:cNvPr id="19" name="Cause Constant offset text"/>
          <p:cNvSpPr txBox="1"/>
          <p:nvPr/>
        </p:nvSpPr>
        <p:spPr>
          <a:xfrm>
            <a:off x="4937760" y="3694176"/>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Constant offset</a:t>
            </a:r>
            <a:endParaRPr lang="en-US" sz="1400" dirty="0"/>
          </a:p>
        </p:txBody>
      </p:sp>
      <p:sp>
        <p:nvSpPr>
          <p:cNvPr id="20" name="Cause Rounding to N decimals"/>
          <p:cNvSpPr/>
          <p:nvPr/>
        </p:nvSpPr>
        <p:spPr>
          <a:xfrm>
            <a:off x="8229600" y="3694176"/>
            <a:ext cx="3291840" cy="566928"/>
          </a:xfrm>
          <a:prstGeom prst="roundRect">
            <a:avLst>
              <a:gd name="adj" fmla="val 48387"/>
            </a:avLst>
          </a:prstGeom>
          <a:solidFill>
            <a:schemeClr val="bg2"/>
          </a:solidFill>
          <a:ln w="12700">
            <a:solidFill>
              <a:schemeClr val="bg2"/>
            </a:solidFill>
            <a:prstDash val="solid"/>
          </a:ln>
        </p:spPr>
      </p:sp>
      <p:sp>
        <p:nvSpPr>
          <p:cNvPr id="21" name="Cause Rounding to N decimals text"/>
          <p:cNvSpPr txBox="1"/>
          <p:nvPr/>
        </p:nvSpPr>
        <p:spPr>
          <a:xfrm>
            <a:off x="8412480" y="3694176"/>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Rounding to N decimals</a:t>
            </a:r>
            <a:endParaRPr lang="en-US" sz="1400" dirty="0"/>
          </a:p>
        </p:txBody>
      </p:sp>
      <p:sp>
        <p:nvSpPr>
          <p:cNvPr id="22" name="Cause Timezone shift"/>
          <p:cNvSpPr/>
          <p:nvPr/>
        </p:nvSpPr>
        <p:spPr>
          <a:xfrm>
            <a:off x="4754880" y="4407408"/>
            <a:ext cx="3291840" cy="566928"/>
          </a:xfrm>
          <a:prstGeom prst="roundRect">
            <a:avLst>
              <a:gd name="adj" fmla="val 48387"/>
            </a:avLst>
          </a:prstGeom>
          <a:solidFill>
            <a:schemeClr val="bg2"/>
          </a:solidFill>
          <a:ln w="12700">
            <a:solidFill>
              <a:schemeClr val="bg2"/>
            </a:solidFill>
            <a:prstDash val="solid"/>
          </a:ln>
        </p:spPr>
      </p:sp>
      <p:sp>
        <p:nvSpPr>
          <p:cNvPr id="23" name="Cause Timezone shift text"/>
          <p:cNvSpPr txBox="1"/>
          <p:nvPr/>
        </p:nvSpPr>
        <p:spPr>
          <a:xfrm>
            <a:off x="4937760" y="4407408"/>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Timezone shift</a:t>
            </a:r>
            <a:endParaRPr lang="en-US" sz="1400" dirty="0"/>
          </a:p>
        </p:txBody>
      </p:sp>
      <p:sp>
        <p:nvSpPr>
          <p:cNvPr id="24" name="Cause Leading zeros lost"/>
          <p:cNvSpPr/>
          <p:nvPr/>
        </p:nvSpPr>
        <p:spPr>
          <a:xfrm>
            <a:off x="8229600" y="4407408"/>
            <a:ext cx="3291840" cy="566928"/>
          </a:xfrm>
          <a:prstGeom prst="roundRect">
            <a:avLst>
              <a:gd name="adj" fmla="val 48387"/>
            </a:avLst>
          </a:prstGeom>
          <a:solidFill>
            <a:schemeClr val="bg2"/>
          </a:solidFill>
          <a:ln w="12700">
            <a:solidFill>
              <a:schemeClr val="bg2"/>
            </a:solidFill>
            <a:prstDash val="solid"/>
          </a:ln>
        </p:spPr>
      </p:sp>
      <p:sp>
        <p:nvSpPr>
          <p:cNvPr id="25" name="Cause Leading zeros lost text"/>
          <p:cNvSpPr txBox="1"/>
          <p:nvPr/>
        </p:nvSpPr>
        <p:spPr>
          <a:xfrm>
            <a:off x="8412480" y="4407408"/>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Leading zeros lost</a:t>
            </a:r>
            <a:endParaRPr lang="en-US" sz="1400" dirty="0"/>
          </a:p>
        </p:txBody>
      </p:sp>
      <p:sp>
        <p:nvSpPr>
          <p:cNvPr id="26" name="Cause Partial-load key blocks"/>
          <p:cNvSpPr/>
          <p:nvPr/>
        </p:nvSpPr>
        <p:spPr>
          <a:xfrm>
            <a:off x="4754880" y="5120640"/>
            <a:ext cx="3291840" cy="566928"/>
          </a:xfrm>
          <a:prstGeom prst="roundRect">
            <a:avLst>
              <a:gd name="adj" fmla="val 48387"/>
            </a:avLst>
          </a:prstGeom>
          <a:solidFill>
            <a:schemeClr val="bg2"/>
          </a:solidFill>
          <a:ln w="12700">
            <a:solidFill>
              <a:schemeClr val="bg2"/>
            </a:solidFill>
            <a:prstDash val="solid"/>
          </a:ln>
        </p:spPr>
      </p:sp>
      <p:sp>
        <p:nvSpPr>
          <p:cNvPr id="27" name="Cause Partial-load key blocks text"/>
          <p:cNvSpPr txBox="1"/>
          <p:nvPr/>
        </p:nvSpPr>
        <p:spPr>
          <a:xfrm>
            <a:off x="4937760" y="5120640"/>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Partial-load key blocks</a:t>
            </a:r>
            <a:endParaRPr lang="en-US" sz="1400" dirty="0"/>
          </a:p>
        </p:txBody>
      </p:sp>
      <p:sp>
        <p:nvSpPr>
          <p:cNvPr id="28" name="Cause No uniform cause (said plainly)"/>
          <p:cNvSpPr/>
          <p:nvPr/>
        </p:nvSpPr>
        <p:spPr>
          <a:xfrm>
            <a:off x="8229600" y="5120640"/>
            <a:ext cx="3291840" cy="566928"/>
          </a:xfrm>
          <a:prstGeom prst="roundRect">
            <a:avLst>
              <a:gd name="adj" fmla="val 48387"/>
            </a:avLst>
          </a:prstGeom>
          <a:solidFill>
            <a:schemeClr val="bg2"/>
          </a:solidFill>
          <a:ln w="12700">
            <a:solidFill>
              <a:schemeClr val="bg2"/>
            </a:solidFill>
            <a:prstDash val="solid"/>
          </a:ln>
        </p:spPr>
      </p:sp>
      <p:sp>
        <p:nvSpPr>
          <p:cNvPr id="29" name="Cause No uniform cause (said plainly) text"/>
          <p:cNvSpPr txBox="1"/>
          <p:nvPr/>
        </p:nvSpPr>
        <p:spPr>
          <a:xfrm>
            <a:off x="8412480" y="5120640"/>
            <a:ext cx="2926080" cy="566928"/>
          </a:xfrm>
          <a:prstGeom prst="rect">
            <a:avLst/>
          </a:prstGeom>
          <a:noFill/>
          <a:ln/>
        </p:spPr>
        <p:txBody>
          <a:bodyPr wrap="square" lIns="0" tIns="0" rIns="0" bIns="0" rtlCol="0" anchor="ctr"/>
          <a:lstStyle/>
          <a:p>
            <a:pPr indent="0" marL="0">
              <a:buNone/>
            </a:pPr>
            <a:r>
              <a:rPr lang="en-US" sz="1400" b="1" dirty="0">
                <a:solidFill>
                  <a:schemeClr val="tx2"/>
                </a:solidFill>
              </a:rPr>
              <a:t>No uniform cause (said plainly)</a:t>
            </a:r>
            <a:endParaRPr lang="en-US" sz="14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NULL and NA handled explicitly</a:t>
            </a:r>
            <a:endParaRPr lang="en-US" sz="3200" dirty="0"/>
          </a:p>
        </p:txBody>
      </p:sp>
      <p:sp>
        <p:nvSpPr>
          <p:cNvPr id="4" name="Null kind Real NULL"/>
          <p:cNvSpPr/>
          <p:nvPr/>
        </p:nvSpPr>
        <p:spPr>
          <a:xfrm>
            <a:off x="548640" y="1645920"/>
            <a:ext cx="3657600" cy="731520"/>
          </a:xfrm>
          <a:prstGeom prst="roundRect">
            <a:avLst>
              <a:gd name="adj" fmla="val 12500"/>
            </a:avLst>
          </a:prstGeom>
          <a:solidFill>
            <a:schemeClr val="bg2"/>
          </a:solidFill>
          <a:ln w="12700">
            <a:solidFill>
              <a:schemeClr val="bg2"/>
            </a:solidFill>
            <a:prstDash val="solid"/>
          </a:ln>
        </p:spPr>
      </p:sp>
      <p:sp>
        <p:nvSpPr>
          <p:cNvPr id="5" name="Null kind Real NULL text"/>
          <p:cNvSpPr txBox="1"/>
          <p:nvPr/>
        </p:nvSpPr>
        <p:spPr>
          <a:xfrm>
            <a:off x="777240" y="164592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Real NULL</a:t>
            </a:r>
            <a:endParaRPr lang="en-US" sz="1600" dirty="0"/>
          </a:p>
        </p:txBody>
      </p:sp>
      <p:sp>
        <p:nvSpPr>
          <p:cNvPr id="6" name="Null kind Blank text"/>
          <p:cNvSpPr/>
          <p:nvPr/>
        </p:nvSpPr>
        <p:spPr>
          <a:xfrm>
            <a:off x="548640" y="2560320"/>
            <a:ext cx="3657600" cy="731520"/>
          </a:xfrm>
          <a:prstGeom prst="roundRect">
            <a:avLst>
              <a:gd name="adj" fmla="val 12500"/>
            </a:avLst>
          </a:prstGeom>
          <a:solidFill>
            <a:schemeClr val="bg2"/>
          </a:solidFill>
          <a:ln w="12700">
            <a:solidFill>
              <a:schemeClr val="bg2"/>
            </a:solidFill>
            <a:prstDash val="solid"/>
          </a:ln>
        </p:spPr>
      </p:sp>
      <p:sp>
        <p:nvSpPr>
          <p:cNvPr id="7" name="Null kind Blank text text"/>
          <p:cNvSpPr txBox="1"/>
          <p:nvPr/>
        </p:nvSpPr>
        <p:spPr>
          <a:xfrm>
            <a:off x="777240" y="256032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Blank text</a:t>
            </a:r>
            <a:endParaRPr lang="en-US" sz="1600" dirty="0"/>
          </a:p>
        </p:txBody>
      </p:sp>
      <p:sp>
        <p:nvSpPr>
          <p:cNvPr id="8" name="Null kind Tokens: NULL, None, N/A, #N/A"/>
          <p:cNvSpPr/>
          <p:nvPr/>
        </p:nvSpPr>
        <p:spPr>
          <a:xfrm>
            <a:off x="548640" y="3474720"/>
            <a:ext cx="3657600" cy="731520"/>
          </a:xfrm>
          <a:prstGeom prst="roundRect">
            <a:avLst>
              <a:gd name="adj" fmla="val 12500"/>
            </a:avLst>
          </a:prstGeom>
          <a:solidFill>
            <a:schemeClr val="bg2"/>
          </a:solidFill>
          <a:ln w="12700">
            <a:solidFill>
              <a:schemeClr val="bg2"/>
            </a:solidFill>
            <a:prstDash val="solid"/>
          </a:ln>
        </p:spPr>
      </p:sp>
      <p:sp>
        <p:nvSpPr>
          <p:cNvPr id="9" name="Null kind Tokens: NULL, None, N/A, #N/A text"/>
          <p:cNvSpPr txBox="1"/>
          <p:nvPr/>
        </p:nvSpPr>
        <p:spPr>
          <a:xfrm>
            <a:off x="777240" y="3474720"/>
            <a:ext cx="3291840" cy="731520"/>
          </a:xfrm>
          <a:prstGeom prst="rect">
            <a:avLst/>
          </a:prstGeom>
          <a:noFill/>
          <a:ln/>
        </p:spPr>
        <p:txBody>
          <a:bodyPr wrap="square" lIns="0" tIns="0" rIns="0" bIns="0" rtlCol="0" anchor="ctr"/>
          <a:lstStyle/>
          <a:p>
            <a:pPr indent="0" marL="0">
              <a:buNone/>
            </a:pPr>
            <a:r>
              <a:rPr lang="en-US" sz="1600" b="1" dirty="0">
                <a:solidFill>
                  <a:schemeClr val="tx2"/>
                </a:solidFill>
              </a:rPr>
              <a:t>Tokens: NULL, None, N/A, #N/A</a:t>
            </a:r>
            <a:endParaRPr lang="en-US" sz="1600" dirty="0"/>
          </a:p>
        </p:txBody>
      </p:sp>
      <p:sp>
        <p:nvSpPr>
          <p:cNvPr id="10" name="Null equivalence note"/>
          <p:cNvSpPr txBox="1"/>
          <p:nvPr/>
        </p:nvSpPr>
        <p:spPr>
          <a:xfrm>
            <a:off x="548640" y="4480560"/>
            <a:ext cx="3657600" cy="457200"/>
          </a:xfrm>
          <a:prstGeom prst="rect">
            <a:avLst/>
          </a:prstGeom>
          <a:noFill/>
          <a:ln/>
        </p:spPr>
        <p:txBody>
          <a:bodyPr wrap="square" lIns="0" tIns="0" rIns="0" bIns="0" rtlCol="0" anchor="ctr"/>
          <a:lstStyle/>
          <a:p>
            <a:pPr algn="ctr" indent="0" marL="0">
              <a:buNone/>
            </a:pPr>
            <a:r>
              <a:rPr lang="en-US" sz="1600" i="1" dirty="0">
                <a:solidFill>
                  <a:schemeClr val="accent1"/>
                </a:solidFill>
              </a:rPr>
              <a:t>all compared as NULL</a:t>
            </a:r>
            <a:endParaRPr lang="en-US" sz="1600" dirty="0"/>
          </a:p>
        </p:txBody>
      </p:sp>
      <p:graphicFrame>
        <p:nvGraphicFramePr>
          <p:cNvPr id="9" name="Null handling examples"/>
          <p:cNvGraphicFramePr>
            <a:graphicFrameLocks noGrp="1"/>
          </p:cNvGraphicFramePr>
          <p:nvPr>
            <p:extLst>
              <p:ext uri="{D42A27DB-BD31-4B8C-83A1-F6EECF244321}">
                <p14:modId xmlns:p14="http://schemas.microsoft.com/office/powerpoint/2010/main" val="1579011935"/>
              </p:ext>
            </p:extLst>
          </p:nvPr>
        </p:nvGraphicFramePr>
        <p:xfrm>
          <a:off x="4754880" y="1645920"/>
          <a:ext cx="6858000" cy="914400"/>
        </p:xfrm>
        <a:graphic>
          <a:graphicData uri="http://schemas.openxmlformats.org/drawingml/2006/table">
            <a:tbl>
              <a:tblPr/>
              <a:tblGrid>
                <a:gridCol w="2011680"/>
                <a:gridCol w="2011680"/>
                <a:gridCol w="2834640"/>
              </a:tblGrid>
              <a:tr h="548640">
                <a:tc>
                  <a:txBody>
                    <a:bodyPr/>
                    <a:lstStyle/>
                    <a:p>
                      <a:pPr indent="0" marL="0">
                        <a:buNone/>
                      </a:pPr>
                      <a:r>
                        <a:rPr lang="en-US" sz="1400" b="1" dirty="0">
                          <a:solidFill>
                            <a:schemeClr val="bg1"/>
                          </a:solidFill>
                        </a:rPr>
                        <a:t>Source</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Target</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Result</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rPr>
                        <a:t>NULL</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NULL</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Match</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N/A</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NULL</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Match (token)</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NULL</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Chennai</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NULL → value</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Surat</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NULL</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value → NULL</a:t>
                      </a:r>
                      <a:endParaRPr lang="en-US" sz="14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12" name="Null details note"/>
          <p:cNvSpPr txBox="1"/>
          <p:nvPr/>
        </p:nvSpPr>
        <p:spPr>
          <a:xfrm>
            <a:off x="4754880" y="4663440"/>
            <a:ext cx="6858000" cy="731520"/>
          </a:xfrm>
          <a:prstGeom prst="rect">
            <a:avLst/>
          </a:prstGeom>
          <a:noFill/>
          <a:ln/>
        </p:spPr>
        <p:txBody>
          <a:bodyPr wrap="square" lIns="0" tIns="0" rIns="0" bIns="0" rtlCol="0" anchor="t"/>
          <a:lstStyle/>
          <a:p>
            <a:pPr indent="0" marL="0">
              <a:buNone/>
            </a:pPr>
            <a:r>
              <a:rPr lang="en-US" sz="1600" dirty="0">
                <a:solidFill>
                  <a:schemeClr val="tx1"/>
                </a:solidFill>
              </a:rPr>
              <a:t>Details per column: real NULL, blank and token counts, plus NULL → value and value → NULL cells.</a:t>
            </a: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Evidence you can sign off on</a:t>
            </a:r>
            <a:endParaRPr lang="en-US" sz="3200" dirty="0"/>
          </a:p>
        </p:txBody>
      </p:sp>
      <p:sp>
        <p:nvSpPr>
          <p:cNvPr id="4" name="Run info heading"/>
          <p:cNvSpPr txBox="1"/>
          <p:nvPr/>
        </p:nvSpPr>
        <p:spPr>
          <a:xfrm>
            <a:off x="548640" y="1417320"/>
            <a:ext cx="6675120" cy="365760"/>
          </a:xfrm>
          <a:prstGeom prst="rect">
            <a:avLst/>
          </a:prstGeom>
          <a:noFill/>
          <a:ln/>
        </p:spPr>
        <p:txBody>
          <a:bodyPr wrap="square" lIns="0" tIns="0" rIns="0" bIns="0" rtlCol="0" anchor="ctr"/>
          <a:lstStyle/>
          <a:p>
            <a:pPr indent="0" marL="0">
              <a:buNone/>
            </a:pPr>
            <a:r>
              <a:rPr lang="en-US" sz="1800" b="1" dirty="0">
                <a:solidFill>
                  <a:schemeClr val="tx2"/>
                </a:solidFill>
              </a:rPr>
              <a:t>Run information (sample)</a:t>
            </a:r>
            <a:endParaRPr lang="en-US" sz="1800" dirty="0"/>
          </a:p>
        </p:txBody>
      </p:sp>
      <p:sp>
        <p:nvSpPr>
          <p:cNvPr id="5" name="Source SQL label"/>
          <p:cNvSpPr txBox="1"/>
          <p:nvPr/>
        </p:nvSpPr>
        <p:spPr>
          <a:xfrm>
            <a:off x="548640" y="1874520"/>
            <a:ext cx="3200400" cy="274320"/>
          </a:xfrm>
          <a:prstGeom prst="rect">
            <a:avLst/>
          </a:prstGeom>
          <a:noFill/>
          <a:ln/>
        </p:spPr>
        <p:txBody>
          <a:bodyPr wrap="square" lIns="0" tIns="0" rIns="0" bIns="0" rtlCol="0" anchor="ctr"/>
          <a:lstStyle/>
          <a:p>
            <a:pPr indent="0" marL="0">
              <a:buNone/>
            </a:pPr>
            <a:r>
              <a:rPr lang="en-US" sz="1200" b="1" dirty="0">
                <a:solidFill>
                  <a:schemeClr val="tx1"/>
                </a:solidFill>
              </a:rPr>
              <a:t>Source SQL</a:t>
            </a:r>
            <a:endParaRPr lang="en-US" sz="1200" dirty="0"/>
          </a:p>
        </p:txBody>
      </p:sp>
      <p:sp>
        <p:nvSpPr>
          <p:cNvPr id="6" name="Source SQL box"/>
          <p:cNvSpPr txBox="1"/>
          <p:nvPr/>
        </p:nvSpPr>
        <p:spPr>
          <a:xfrm>
            <a:off x="548640" y="2148840"/>
            <a:ext cx="3246120" cy="1051560"/>
          </a:xfrm>
          <a:prstGeom prst="rect">
            <a:avLst/>
          </a:prstGeom>
          <a:solidFill>
            <a:schemeClr val="tx1"/>
          </a:solidFill>
          <a:ln/>
        </p:spPr>
        <p:txBody>
          <a:bodyPr wrap="square" lIns="1524" tIns="1524" rIns="1524" bIns="1524"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SELECT id, name, amt, city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sales.customers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ORDER BY id</a:t>
            </a:r>
            <a:endParaRPr lang="en-US" sz="1200" dirty="0"/>
          </a:p>
        </p:txBody>
      </p:sp>
      <p:sp>
        <p:nvSpPr>
          <p:cNvPr id="7" name="Target SQL label"/>
          <p:cNvSpPr txBox="1"/>
          <p:nvPr/>
        </p:nvSpPr>
        <p:spPr>
          <a:xfrm>
            <a:off x="3977640" y="1874520"/>
            <a:ext cx="3200400" cy="274320"/>
          </a:xfrm>
          <a:prstGeom prst="rect">
            <a:avLst/>
          </a:prstGeom>
          <a:noFill/>
          <a:ln/>
        </p:spPr>
        <p:txBody>
          <a:bodyPr wrap="square" lIns="0" tIns="0" rIns="0" bIns="0" rtlCol="0" anchor="ctr"/>
          <a:lstStyle/>
          <a:p>
            <a:pPr indent="0" marL="0">
              <a:buNone/>
            </a:pPr>
            <a:r>
              <a:rPr lang="en-US" sz="1200" b="1" dirty="0">
                <a:solidFill>
                  <a:schemeClr val="tx1"/>
                </a:solidFill>
              </a:rPr>
              <a:t>Target SQL</a:t>
            </a:r>
            <a:endParaRPr lang="en-US" sz="1200" dirty="0"/>
          </a:p>
        </p:txBody>
      </p:sp>
      <p:sp>
        <p:nvSpPr>
          <p:cNvPr id="8" name="Target SQL box"/>
          <p:cNvSpPr txBox="1"/>
          <p:nvPr/>
        </p:nvSpPr>
        <p:spPr>
          <a:xfrm>
            <a:off x="3977640" y="2148840"/>
            <a:ext cx="3246120" cy="1051560"/>
          </a:xfrm>
          <a:prstGeom prst="rect">
            <a:avLst/>
          </a:prstGeom>
          <a:solidFill>
            <a:schemeClr val="tx1"/>
          </a:solidFill>
          <a:ln/>
        </p:spPr>
        <p:txBody>
          <a:bodyPr wrap="square" lIns="1524" tIns="1524" rIns="1524" bIns="1524"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SELECT id, name, amt, city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dbo.customers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ORDER BY id</a:t>
            </a:r>
            <a:endParaRPr lang="en-US" sz="1200" dirty="0"/>
          </a:p>
        </p:txBody>
      </p:sp>
      <p:graphicFrame>
        <p:nvGraphicFramePr>
          <p:cNvPr id="10" name="Run info sample table"/>
          <p:cNvGraphicFramePr>
            <a:graphicFrameLocks noGrp="1"/>
          </p:cNvGraphicFramePr>
          <p:nvPr>
            <p:extLst>
              <p:ext uri="{D42A27DB-BD31-4B8C-83A1-F6EECF244321}">
                <p14:modId xmlns:p14="http://schemas.microsoft.com/office/powerpoint/2010/main" val="1579011935"/>
              </p:ext>
            </p:extLst>
          </p:nvPr>
        </p:nvGraphicFramePr>
        <p:xfrm>
          <a:off x="548640" y="3429000"/>
          <a:ext cx="6675120" cy="914400"/>
        </p:xfrm>
        <a:graphic>
          <a:graphicData uri="http://schemas.openxmlformats.org/drawingml/2006/table">
            <a:tbl>
              <a:tblPr/>
              <a:tblGrid>
                <a:gridCol w="2194560"/>
                <a:gridCol w="4480560"/>
              </a:tblGrid>
              <a:tr h="365760">
                <a:tc>
                  <a:txBody>
                    <a:bodyPr/>
                    <a:lstStyle/>
                    <a:p>
                      <a:pPr indent="0" marL="0">
                        <a:buNone/>
                      </a:pPr>
                      <a:r>
                        <a:rPr lang="en-US" sz="1300" b="1" dirty="0">
                          <a:solidFill>
                            <a:schemeClr val="bg1"/>
                          </a:solidFill>
                        </a:rPr>
                        <a:t>Item</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Value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rPr>
                        <a:t>Run ID</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A1B2C3D4E5F6</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Generated (UTC)</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2026-10-25 15:08:49 UTC</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Run by</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analyst01</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Source</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Database query, PostgreSQL, sales</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Target</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Database query, SQL Server, dw</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Verdict</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FAIL</a:t>
                      </a:r>
                      <a:endParaRPr lang="en-US" sz="1300" dirty="0"/>
                    </a:p>
                  </a:txBody>
                  <a:tcPr marL="91440" marR="91440" marT="45720" marB="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10" name="Evidence caption"/>
          <p:cNvSpPr txBox="1"/>
          <p:nvPr/>
        </p:nvSpPr>
        <p:spPr>
          <a:xfrm>
            <a:off x="548640" y="6035040"/>
            <a:ext cx="6675120" cy="274320"/>
          </a:xfrm>
          <a:prstGeom prst="rect">
            <a:avLst/>
          </a:prstGeom>
          <a:noFill/>
          <a:ln/>
        </p:spPr>
        <p:txBody>
          <a:bodyPr wrap="square" lIns="0" tIns="0" rIns="0" bIns="0" rtlCol="0" anchor="ctr"/>
          <a:lstStyle/>
          <a:p>
            <a:pPr indent="0" marL="0">
              <a:buNone/>
            </a:pPr>
            <a:r>
              <a:rPr lang="en-US" sz="1200" i="1" dirty="0">
                <a:solidFill>
                  <a:schemeClr val="accent6"/>
                </a:solidFill>
              </a:rPr>
              <a:t>Sample, illustrative data</a:t>
            </a:r>
            <a:endParaRPr lang="en-US" sz="1200" dirty="0"/>
          </a:p>
        </p:txBody>
      </p:sp>
      <p:sp>
        <p:nvSpPr>
          <p:cNvPr id="11" name="Evidence bullets"/>
          <p:cNvSpPr txBox="1"/>
          <p:nvPr/>
        </p:nvSpPr>
        <p:spPr>
          <a:xfrm>
            <a:off x="7498080" y="1508760"/>
            <a:ext cx="41148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Run ID, time, user, tool version</a:t>
            </a:r>
            <a:endParaRPr lang="en-US" sz="1600" dirty="0"/>
          </a:p>
          <a:p>
            <a:pPr marL="342900" indent="-342900">
              <a:spcAft>
                <a:spcPts val="800"/>
              </a:spcAft>
              <a:buSzPct val="100000"/>
              <a:buChar char="•"/>
            </a:pPr>
            <a:r>
              <a:rPr lang="en-US" sz="1600" dirty="0">
                <a:solidFill>
                  <a:schemeClr val="tx1"/>
                </a:solidFill>
              </a:rPr>
              <a:t>Exact source and target SQL</a:t>
            </a:r>
            <a:endParaRPr lang="en-US" sz="1600" dirty="0"/>
          </a:p>
          <a:p>
            <a:pPr marL="342900" indent="-342900">
              <a:spcAft>
                <a:spcPts val="800"/>
              </a:spcAft>
              <a:buSzPct val="100000"/>
              <a:buChar char="•"/>
            </a:pPr>
            <a:r>
              <a:rPr lang="en-US" sz="1600" dirty="0">
                <a:solidFill>
                  <a:schemeClr val="tx1"/>
                </a:solidFill>
              </a:rPr>
              <a:t>Rules used and file / SQL SHA-256</a:t>
            </a:r>
            <a:endParaRPr lang="en-US" sz="1600" dirty="0"/>
          </a:p>
          <a:p>
            <a:pPr marL="342900" indent="-342900">
              <a:spcAft>
                <a:spcPts val="800"/>
              </a:spcAft>
              <a:buSzPct val="100000"/>
              <a:buChar char="•"/>
            </a:pPr>
            <a:r>
              <a:rPr lang="en-US" sz="1600" dirty="0">
                <a:solidFill>
                  <a:schemeClr val="tx1"/>
                </a:solidFill>
              </a:rPr>
              <a:t>No passwords, ever</a:t>
            </a:r>
            <a:endParaRPr lang="en-US" sz="1600" dirty="0"/>
          </a:p>
        </p:txBody>
      </p:sp>
      <p:sp>
        <p:nvSpPr>
          <p:cNvPr id="12" name="Excel, highlighted icon circle"/>
          <p:cNvSpPr/>
          <p:nvPr/>
        </p:nvSpPr>
        <p:spPr>
          <a:xfrm>
            <a:off x="7818120" y="3886200"/>
            <a:ext cx="640080" cy="640080"/>
          </a:xfrm>
          <a:prstGeom prst="ellipse">
            <a:avLst/>
          </a:prstGeom>
          <a:solidFill>
            <a:schemeClr val="accent1"/>
          </a:solidFill>
          <a:ln w="12700">
            <a:solidFill>
              <a:schemeClr val="accent1"/>
            </a:solidFill>
            <a:prstDash val="solid"/>
          </a:ln>
        </p:spPr>
      </p:sp>
      <p:pic>
        <p:nvPicPr>
          <p:cNvPr id="13" name="Image 0" descr="Excel, highlighted">    </p:cNvPr>
          <p:cNvPicPr>
            <a:picLocks noChangeAspect="1"/>
          </p:cNvPicPr>
          <p:nvPr/>
        </p:nvPicPr>
        <p:blipFill>
          <a:blip r:embed="rId1"/>
          <a:stretch>
            <a:fillRect/>
          </a:stretch>
        </p:blipFill>
        <p:spPr>
          <a:xfrm>
            <a:off x="7978140" y="4046220"/>
            <a:ext cx="320040" cy="320040"/>
          </a:xfrm>
          <a:prstGeom prst="rect">
            <a:avLst/>
          </a:prstGeom>
        </p:spPr>
      </p:pic>
      <p:sp>
        <p:nvSpPr>
          <p:cNvPr id="14" name="Format Excel, highlighted"/>
          <p:cNvSpPr txBox="1"/>
          <p:nvPr/>
        </p:nvSpPr>
        <p:spPr>
          <a:xfrm>
            <a:off x="7498080" y="46177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Excel, highlighted</a:t>
            </a:r>
            <a:endParaRPr lang="en-US" sz="1200" dirty="0"/>
          </a:p>
        </p:txBody>
      </p:sp>
      <p:sp>
        <p:nvSpPr>
          <p:cNvPr id="15" name="HTML evidence icon circle"/>
          <p:cNvSpPr/>
          <p:nvPr/>
        </p:nvSpPr>
        <p:spPr>
          <a:xfrm>
            <a:off x="9189720" y="3886200"/>
            <a:ext cx="640080" cy="640080"/>
          </a:xfrm>
          <a:prstGeom prst="ellipse">
            <a:avLst/>
          </a:prstGeom>
          <a:solidFill>
            <a:schemeClr val="accent1"/>
          </a:solidFill>
          <a:ln w="12700">
            <a:solidFill>
              <a:schemeClr val="accent1"/>
            </a:solidFill>
            <a:prstDash val="solid"/>
          </a:ln>
        </p:spPr>
      </p:sp>
      <p:pic>
        <p:nvPicPr>
          <p:cNvPr id="16" name="Image 1" descr="HTML evidence">    </p:cNvPr>
          <p:cNvPicPr>
            <a:picLocks noChangeAspect="1"/>
          </p:cNvPicPr>
          <p:nvPr/>
        </p:nvPicPr>
        <p:blipFill>
          <a:blip r:embed="rId2"/>
          <a:stretch>
            <a:fillRect/>
          </a:stretch>
        </p:blipFill>
        <p:spPr>
          <a:xfrm>
            <a:off x="9349740" y="4046220"/>
            <a:ext cx="320040" cy="320040"/>
          </a:xfrm>
          <a:prstGeom prst="rect">
            <a:avLst/>
          </a:prstGeom>
        </p:spPr>
      </p:pic>
      <p:sp>
        <p:nvSpPr>
          <p:cNvPr id="17" name="Format HTML evidence"/>
          <p:cNvSpPr txBox="1"/>
          <p:nvPr/>
        </p:nvSpPr>
        <p:spPr>
          <a:xfrm>
            <a:off x="8869680" y="46177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HTML evidence</a:t>
            </a:r>
            <a:endParaRPr lang="en-US" sz="1200" dirty="0"/>
          </a:p>
        </p:txBody>
      </p:sp>
      <p:sp>
        <p:nvSpPr>
          <p:cNvPr id="18" name="CSV and JSON icon circle"/>
          <p:cNvSpPr/>
          <p:nvPr/>
        </p:nvSpPr>
        <p:spPr>
          <a:xfrm>
            <a:off x="10561320" y="3886200"/>
            <a:ext cx="640080" cy="640080"/>
          </a:xfrm>
          <a:prstGeom prst="ellipse">
            <a:avLst/>
          </a:prstGeom>
          <a:solidFill>
            <a:schemeClr val="accent1"/>
          </a:solidFill>
          <a:ln w="12700">
            <a:solidFill>
              <a:schemeClr val="accent1"/>
            </a:solidFill>
            <a:prstDash val="solid"/>
          </a:ln>
        </p:spPr>
      </p:sp>
      <p:pic>
        <p:nvPicPr>
          <p:cNvPr id="19" name="Image 2" descr="CSV and JSON">    </p:cNvPr>
          <p:cNvPicPr>
            <a:picLocks noChangeAspect="1"/>
          </p:cNvPicPr>
          <p:nvPr/>
        </p:nvPicPr>
        <p:blipFill>
          <a:blip r:embed="rId3"/>
          <a:stretch>
            <a:fillRect/>
          </a:stretch>
        </p:blipFill>
        <p:spPr>
          <a:xfrm>
            <a:off x="10721340" y="4046220"/>
            <a:ext cx="320040" cy="320040"/>
          </a:xfrm>
          <a:prstGeom prst="rect">
            <a:avLst/>
          </a:prstGeom>
        </p:spPr>
      </p:pic>
      <p:sp>
        <p:nvSpPr>
          <p:cNvPr id="20" name="Format CSV and JSON"/>
          <p:cNvSpPr txBox="1"/>
          <p:nvPr/>
        </p:nvSpPr>
        <p:spPr>
          <a:xfrm>
            <a:off x="10241280" y="46177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CSV and JSON</a:t>
            </a:r>
            <a:endParaRPr lang="en-US" sz="1200" dirty="0"/>
          </a:p>
        </p:txBody>
      </p:sp>
      <p:sp>
        <p:nvSpPr>
          <p:cNvPr id="21" name="Evidence footnote"/>
          <p:cNvSpPr txBox="1"/>
          <p:nvPr/>
        </p:nvSpPr>
        <p:spPr>
          <a:xfrm>
            <a:off x="7498080" y="5394960"/>
            <a:ext cx="4114800" cy="548640"/>
          </a:xfrm>
          <a:prstGeom prst="rect">
            <a:avLst/>
          </a:prstGeom>
          <a:noFill/>
          <a:ln/>
        </p:spPr>
        <p:txBody>
          <a:bodyPr wrap="square" lIns="0" tIns="0" rIns="0" bIns="0" rtlCol="0" anchor="ctr"/>
          <a:lstStyle/>
          <a:p>
            <a:pPr indent="0" marL="0">
              <a:buNone/>
            </a:pPr>
            <a:r>
              <a:rPr lang="en-US" sz="1600" i="1" dirty="0">
                <a:solidFill>
                  <a:schemeClr val="tx2"/>
                </a:solidFill>
              </a:rPr>
              <a:t>Print the HTML to PDF for a signed-off copy.</a:t>
            </a: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Built for large migrations</a:t>
            </a:r>
            <a:endParaRPr lang="en-US" sz="3200" dirty="0"/>
          </a:p>
        </p:txBody>
      </p:sp>
      <p:sp>
        <p:nvSpPr>
          <p:cNvPr id="4" name="Full data validation only card"/>
          <p:cNvSpPr/>
          <p:nvPr/>
        </p:nvSpPr>
        <p:spPr>
          <a:xfrm>
            <a:off x="548640" y="1645920"/>
            <a:ext cx="2606040" cy="3108960"/>
          </a:xfrm>
          <a:prstGeom prst="roundRect">
            <a:avLst>
              <a:gd name="adj" fmla="val 2807"/>
            </a:avLst>
          </a:prstGeom>
          <a:solidFill>
            <a:schemeClr val="bg2"/>
          </a:solidFill>
          <a:ln w="12700">
            <a:solidFill>
              <a:schemeClr val="bg2"/>
            </a:solidFill>
            <a:prstDash val="solid"/>
          </a:ln>
        </p:spPr>
      </p:sp>
      <p:sp>
        <p:nvSpPr>
          <p:cNvPr id="5" name="Full data validation only icon circle"/>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6" name="Image 0" descr="Full data validation only">    </p:cNvPr>
          <p:cNvPicPr>
            <a:picLocks noChangeAspect="1"/>
          </p:cNvPicPr>
          <p:nvPr/>
        </p:nvPicPr>
        <p:blipFill>
          <a:blip r:embed="rId1"/>
          <a:stretch>
            <a:fillRect/>
          </a:stretch>
        </p:blipFill>
        <p:spPr>
          <a:xfrm>
            <a:off x="994410" y="2045970"/>
            <a:ext cx="342900" cy="342900"/>
          </a:xfrm>
          <a:prstGeom prst="rect">
            <a:avLst/>
          </a:prstGeom>
        </p:spPr>
      </p:pic>
      <p:sp>
        <p:nvSpPr>
          <p:cNvPr id="7" name="Full data validation only title"/>
          <p:cNvSpPr txBox="1"/>
          <p:nvPr/>
        </p:nvSpPr>
        <p:spPr>
          <a:xfrm>
            <a:off x="822960" y="2743200"/>
            <a:ext cx="2148840" cy="731520"/>
          </a:xfrm>
          <a:prstGeom prst="rect">
            <a:avLst/>
          </a:prstGeom>
          <a:noFill/>
          <a:ln/>
        </p:spPr>
        <p:txBody>
          <a:bodyPr wrap="square" lIns="0" tIns="0" rIns="0" bIns="0" rtlCol="0" anchor="t"/>
          <a:lstStyle/>
          <a:p>
            <a:pPr indent="0" marL="0">
              <a:buNone/>
            </a:pPr>
            <a:r>
              <a:rPr lang="en-US" sz="1800" b="1" dirty="0">
                <a:solidFill>
                  <a:schemeClr val="tx2"/>
                </a:solidFill>
              </a:rPr>
              <a:t>Full data validation only</a:t>
            </a:r>
            <a:endParaRPr lang="en-US" sz="1800" dirty="0"/>
          </a:p>
        </p:txBody>
      </p:sp>
      <p:sp>
        <p:nvSpPr>
          <p:cNvPr id="8" name="Full data validation only text"/>
          <p:cNvSpPr txBox="1"/>
          <p:nvPr/>
        </p:nvSpPr>
        <p:spPr>
          <a:xfrm>
            <a:off x="822960" y="3520440"/>
            <a:ext cx="2148840" cy="1097280"/>
          </a:xfrm>
          <a:prstGeom prst="rect">
            <a:avLst/>
          </a:prstGeom>
          <a:noFill/>
          <a:ln/>
        </p:spPr>
        <p:txBody>
          <a:bodyPr wrap="square" lIns="0" tIns="0" rIns="0" bIns="0" rtlCol="0" anchor="t"/>
          <a:lstStyle/>
          <a:p>
            <a:pPr indent="0" marL="0">
              <a:buNone/>
            </a:pPr>
            <a:r>
              <a:rPr lang="en-US" sz="1400" dirty="0">
                <a:solidFill>
                  <a:schemeClr val="tx1"/>
                </a:solidFill>
              </a:rPr>
              <a:t>Skip profiling; run the row-level check</a:t>
            </a:r>
            <a:endParaRPr lang="en-US" sz="1400" dirty="0"/>
          </a:p>
        </p:txBody>
      </p:sp>
      <p:sp>
        <p:nvSpPr>
          <p:cNvPr id="9" name="Matched rows counted card"/>
          <p:cNvSpPr/>
          <p:nvPr/>
        </p:nvSpPr>
        <p:spPr>
          <a:xfrm>
            <a:off x="3355848" y="1645920"/>
            <a:ext cx="2606040" cy="3108960"/>
          </a:xfrm>
          <a:prstGeom prst="roundRect">
            <a:avLst>
              <a:gd name="adj" fmla="val 2807"/>
            </a:avLst>
          </a:prstGeom>
          <a:solidFill>
            <a:schemeClr val="bg2"/>
          </a:solidFill>
          <a:ln w="12700">
            <a:solidFill>
              <a:schemeClr val="bg2"/>
            </a:solidFill>
            <a:prstDash val="solid"/>
          </a:ln>
        </p:spPr>
      </p:sp>
      <p:sp>
        <p:nvSpPr>
          <p:cNvPr id="10" name="Matched rows counted icon circle"/>
          <p:cNvSpPr/>
          <p:nvPr/>
        </p:nvSpPr>
        <p:spPr>
          <a:xfrm>
            <a:off x="3630168" y="1874520"/>
            <a:ext cx="685800" cy="685800"/>
          </a:xfrm>
          <a:prstGeom prst="ellipse">
            <a:avLst/>
          </a:prstGeom>
          <a:solidFill>
            <a:schemeClr val="accent1"/>
          </a:solidFill>
          <a:ln w="12700">
            <a:solidFill>
              <a:schemeClr val="accent1"/>
            </a:solidFill>
            <a:prstDash val="solid"/>
          </a:ln>
        </p:spPr>
      </p:sp>
      <p:pic>
        <p:nvPicPr>
          <p:cNvPr id="11" name="Image 1" descr="Matched rows counted">    </p:cNvPr>
          <p:cNvPicPr>
            <a:picLocks noChangeAspect="1"/>
          </p:cNvPicPr>
          <p:nvPr/>
        </p:nvPicPr>
        <p:blipFill>
          <a:blip r:embed="rId2"/>
          <a:stretch>
            <a:fillRect/>
          </a:stretch>
        </p:blipFill>
        <p:spPr>
          <a:xfrm>
            <a:off x="3801618" y="2045970"/>
            <a:ext cx="342900" cy="342900"/>
          </a:xfrm>
          <a:prstGeom prst="rect">
            <a:avLst/>
          </a:prstGeom>
        </p:spPr>
      </p:pic>
      <p:sp>
        <p:nvSpPr>
          <p:cNvPr id="12" name="Matched rows counted title"/>
          <p:cNvSpPr txBox="1"/>
          <p:nvPr/>
        </p:nvSpPr>
        <p:spPr>
          <a:xfrm>
            <a:off x="3630168" y="2743200"/>
            <a:ext cx="2148840" cy="731520"/>
          </a:xfrm>
          <a:prstGeom prst="rect">
            <a:avLst/>
          </a:prstGeom>
          <a:noFill/>
          <a:ln/>
        </p:spPr>
        <p:txBody>
          <a:bodyPr wrap="square" lIns="0" tIns="0" rIns="0" bIns="0" rtlCol="0" anchor="t"/>
          <a:lstStyle/>
          <a:p>
            <a:pPr indent="0" marL="0">
              <a:buNone/>
            </a:pPr>
            <a:r>
              <a:rPr lang="en-US" sz="1800" b="1" dirty="0">
                <a:solidFill>
                  <a:schemeClr val="tx2"/>
                </a:solidFill>
              </a:rPr>
              <a:t>Matched rows counted</a:t>
            </a:r>
            <a:endParaRPr lang="en-US" sz="1800" dirty="0"/>
          </a:p>
        </p:txBody>
      </p:sp>
      <p:sp>
        <p:nvSpPr>
          <p:cNvPr id="13" name="Matched rows counted text"/>
          <p:cNvSpPr txBox="1"/>
          <p:nvPr/>
        </p:nvSpPr>
        <p:spPr>
          <a:xfrm>
            <a:off x="3630168" y="3520440"/>
            <a:ext cx="2148840" cy="1097280"/>
          </a:xfrm>
          <a:prstGeom prst="rect">
            <a:avLst/>
          </a:prstGeom>
          <a:noFill/>
          <a:ln/>
        </p:spPr>
        <p:txBody>
          <a:bodyPr wrap="square" lIns="0" tIns="0" rIns="0" bIns="0" rtlCol="0" anchor="t"/>
          <a:lstStyle/>
          <a:p>
            <a:pPr indent="0" marL="0">
              <a:buNone/>
            </a:pPr>
            <a:r>
              <a:rPr lang="en-US" sz="1400" dirty="0">
                <a:solidFill>
                  <a:schemeClr val="tx1"/>
                </a:solidFill>
              </a:rPr>
              <a:t>Lists only what differs; matched rows on request</a:t>
            </a:r>
            <a:endParaRPr lang="en-US" sz="1400" dirty="0"/>
          </a:p>
        </p:txBody>
      </p:sp>
      <p:sp>
        <p:nvSpPr>
          <p:cNvPr id="14" name="Reports on demand card"/>
          <p:cNvSpPr/>
          <p:nvPr/>
        </p:nvSpPr>
        <p:spPr>
          <a:xfrm>
            <a:off x="6163056" y="1645920"/>
            <a:ext cx="2606040" cy="3108960"/>
          </a:xfrm>
          <a:prstGeom prst="roundRect">
            <a:avLst>
              <a:gd name="adj" fmla="val 2807"/>
            </a:avLst>
          </a:prstGeom>
          <a:solidFill>
            <a:schemeClr val="bg2"/>
          </a:solidFill>
          <a:ln w="12700">
            <a:solidFill>
              <a:schemeClr val="bg2"/>
            </a:solidFill>
            <a:prstDash val="solid"/>
          </a:ln>
        </p:spPr>
      </p:sp>
      <p:sp>
        <p:nvSpPr>
          <p:cNvPr id="15" name="Reports on demand icon circle"/>
          <p:cNvSpPr/>
          <p:nvPr/>
        </p:nvSpPr>
        <p:spPr>
          <a:xfrm>
            <a:off x="6437376" y="1874520"/>
            <a:ext cx="685800" cy="685800"/>
          </a:xfrm>
          <a:prstGeom prst="ellipse">
            <a:avLst/>
          </a:prstGeom>
          <a:solidFill>
            <a:schemeClr val="accent1"/>
          </a:solidFill>
          <a:ln w="12700">
            <a:solidFill>
              <a:schemeClr val="accent1"/>
            </a:solidFill>
            <a:prstDash val="solid"/>
          </a:ln>
        </p:spPr>
      </p:sp>
      <p:pic>
        <p:nvPicPr>
          <p:cNvPr id="16" name="Image 2" descr="Reports on demand">    </p:cNvPr>
          <p:cNvPicPr>
            <a:picLocks noChangeAspect="1"/>
          </p:cNvPicPr>
          <p:nvPr/>
        </p:nvPicPr>
        <p:blipFill>
          <a:blip r:embed="rId3"/>
          <a:stretch>
            <a:fillRect/>
          </a:stretch>
        </p:blipFill>
        <p:spPr>
          <a:xfrm>
            <a:off x="6608826" y="2045970"/>
            <a:ext cx="342900" cy="342900"/>
          </a:xfrm>
          <a:prstGeom prst="rect">
            <a:avLst/>
          </a:prstGeom>
        </p:spPr>
      </p:pic>
      <p:sp>
        <p:nvSpPr>
          <p:cNvPr id="17" name="Reports on demand title"/>
          <p:cNvSpPr txBox="1"/>
          <p:nvPr/>
        </p:nvSpPr>
        <p:spPr>
          <a:xfrm>
            <a:off x="6437376" y="2743200"/>
            <a:ext cx="2148840" cy="731520"/>
          </a:xfrm>
          <a:prstGeom prst="rect">
            <a:avLst/>
          </a:prstGeom>
          <a:noFill/>
          <a:ln/>
        </p:spPr>
        <p:txBody>
          <a:bodyPr wrap="square" lIns="0" tIns="0" rIns="0" bIns="0" rtlCol="0" anchor="t"/>
          <a:lstStyle/>
          <a:p>
            <a:pPr indent="0" marL="0">
              <a:buNone/>
            </a:pPr>
            <a:r>
              <a:rPr lang="en-US" sz="1800" b="1" dirty="0">
                <a:solidFill>
                  <a:schemeClr val="tx2"/>
                </a:solidFill>
              </a:rPr>
              <a:t>Reports on demand</a:t>
            </a:r>
            <a:endParaRPr lang="en-US" sz="1800" dirty="0"/>
          </a:p>
        </p:txBody>
      </p:sp>
      <p:sp>
        <p:nvSpPr>
          <p:cNvPr id="18" name="Reports on demand text"/>
          <p:cNvSpPr txBox="1"/>
          <p:nvPr/>
        </p:nvSpPr>
        <p:spPr>
          <a:xfrm>
            <a:off x="6437376" y="3520440"/>
            <a:ext cx="2148840" cy="1097280"/>
          </a:xfrm>
          <a:prstGeom prst="rect">
            <a:avLst/>
          </a:prstGeom>
          <a:noFill/>
          <a:ln/>
        </p:spPr>
        <p:txBody>
          <a:bodyPr wrap="square" lIns="0" tIns="0" rIns="0" bIns="0" rtlCol="0" anchor="t"/>
          <a:lstStyle/>
          <a:p>
            <a:pPr indent="0" marL="0">
              <a:buNone/>
            </a:pPr>
            <a:r>
              <a:rPr lang="en-US" sz="1400" dirty="0">
                <a:solidFill>
                  <a:schemeClr val="tx1"/>
                </a:solidFill>
              </a:rPr>
              <a:t>Built when you click download</a:t>
            </a:r>
            <a:endParaRPr lang="en-US" sz="1400" dirty="0"/>
          </a:p>
        </p:txBody>
      </p:sp>
      <p:sp>
        <p:nvSpPr>
          <p:cNvPr id="19" name="Partition huge tables card"/>
          <p:cNvSpPr/>
          <p:nvPr/>
        </p:nvSpPr>
        <p:spPr>
          <a:xfrm>
            <a:off x="8970264" y="1645920"/>
            <a:ext cx="2606040" cy="3108960"/>
          </a:xfrm>
          <a:prstGeom prst="roundRect">
            <a:avLst>
              <a:gd name="adj" fmla="val 2807"/>
            </a:avLst>
          </a:prstGeom>
          <a:solidFill>
            <a:schemeClr val="bg2"/>
          </a:solidFill>
          <a:ln w="12700">
            <a:solidFill>
              <a:schemeClr val="bg2"/>
            </a:solidFill>
            <a:prstDash val="solid"/>
          </a:ln>
        </p:spPr>
      </p:sp>
      <p:sp>
        <p:nvSpPr>
          <p:cNvPr id="20" name="Partition huge tables icon circle"/>
          <p:cNvSpPr/>
          <p:nvPr/>
        </p:nvSpPr>
        <p:spPr>
          <a:xfrm>
            <a:off x="9244584" y="1874520"/>
            <a:ext cx="685800" cy="685800"/>
          </a:xfrm>
          <a:prstGeom prst="ellipse">
            <a:avLst/>
          </a:prstGeom>
          <a:solidFill>
            <a:schemeClr val="accent1"/>
          </a:solidFill>
          <a:ln w="12700">
            <a:solidFill>
              <a:schemeClr val="accent1"/>
            </a:solidFill>
            <a:prstDash val="solid"/>
          </a:ln>
        </p:spPr>
      </p:sp>
      <p:pic>
        <p:nvPicPr>
          <p:cNvPr id="21" name="Image 3" descr="Partition huge tables">    </p:cNvPr>
          <p:cNvPicPr>
            <a:picLocks noChangeAspect="1"/>
          </p:cNvPicPr>
          <p:nvPr/>
        </p:nvPicPr>
        <p:blipFill>
          <a:blip r:embed="rId4"/>
          <a:stretch>
            <a:fillRect/>
          </a:stretch>
        </p:blipFill>
        <p:spPr>
          <a:xfrm>
            <a:off x="9416034" y="2045970"/>
            <a:ext cx="342900" cy="342900"/>
          </a:xfrm>
          <a:prstGeom prst="rect">
            <a:avLst/>
          </a:prstGeom>
        </p:spPr>
      </p:pic>
      <p:sp>
        <p:nvSpPr>
          <p:cNvPr id="22" name="Partition huge tables title"/>
          <p:cNvSpPr txBox="1"/>
          <p:nvPr/>
        </p:nvSpPr>
        <p:spPr>
          <a:xfrm>
            <a:off x="9244584" y="2743200"/>
            <a:ext cx="2148840" cy="731520"/>
          </a:xfrm>
          <a:prstGeom prst="rect">
            <a:avLst/>
          </a:prstGeom>
          <a:noFill/>
          <a:ln/>
        </p:spPr>
        <p:txBody>
          <a:bodyPr wrap="square" lIns="0" tIns="0" rIns="0" bIns="0" rtlCol="0" anchor="t"/>
          <a:lstStyle/>
          <a:p>
            <a:pPr indent="0" marL="0">
              <a:buNone/>
            </a:pPr>
            <a:r>
              <a:rPr lang="en-US" sz="1800" b="1" dirty="0">
                <a:solidFill>
                  <a:schemeClr val="tx2"/>
                </a:solidFill>
              </a:rPr>
              <a:t>Partition huge tables</a:t>
            </a:r>
            <a:endParaRPr lang="en-US" sz="1800" dirty="0"/>
          </a:p>
        </p:txBody>
      </p:sp>
      <p:sp>
        <p:nvSpPr>
          <p:cNvPr id="23" name="Partition huge tables text"/>
          <p:cNvSpPr txBox="1"/>
          <p:nvPr/>
        </p:nvSpPr>
        <p:spPr>
          <a:xfrm>
            <a:off x="9244584" y="3520440"/>
            <a:ext cx="2148840" cy="1097280"/>
          </a:xfrm>
          <a:prstGeom prst="rect">
            <a:avLst/>
          </a:prstGeom>
          <a:noFill/>
          <a:ln/>
        </p:spPr>
        <p:txBody>
          <a:bodyPr wrap="square" lIns="0" tIns="0" rIns="0" bIns="0" rtlCol="0" anchor="t"/>
          <a:lstStyle/>
          <a:p>
            <a:pPr indent="0" marL="0">
              <a:buNone/>
            </a:pPr>
            <a:r>
              <a:rPr lang="en-US" sz="1400" dirty="0">
                <a:solidFill>
                  <a:schemeClr val="tx1"/>
                </a:solidFill>
              </a:rPr>
              <a:t>Compare by date or key range using the SQL</a:t>
            </a:r>
            <a:endParaRPr lang="en-US" sz="1400" dirty="0"/>
          </a:p>
        </p:txBody>
      </p:sp>
      <p:sp>
        <p:nvSpPr>
          <p:cNvPr id="24" name="Timing note"/>
          <p:cNvSpPr txBox="1"/>
          <p:nvPr/>
        </p:nvSpPr>
        <p:spPr>
          <a:xfrm>
            <a:off x="548640" y="5212080"/>
            <a:ext cx="11091672" cy="457200"/>
          </a:xfrm>
          <a:prstGeom prst="rect">
            <a:avLst/>
          </a:prstGeom>
          <a:noFill/>
          <a:ln/>
        </p:spPr>
        <p:txBody>
          <a:bodyPr wrap="square" lIns="0" tIns="0" rIns="0" bIns="0" rtlCol="0" anchor="ctr"/>
          <a:lstStyle/>
          <a:p>
            <a:pPr indent="0" marL="0">
              <a:buNone/>
            </a:pPr>
            <a:r>
              <a:rPr lang="en-US" sz="1600" i="1" dirty="0">
                <a:solidFill>
                  <a:schemeClr val="accent6"/>
                </a:solidFill>
              </a:rPr>
              <a:t>Run times depend on data shape and hardware. We measure them on your environment during the pilot.</a:t>
            </a: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Security and scope</a:t>
            </a:r>
            <a:endParaRPr lang="en-US" sz="3200" dirty="0"/>
          </a:p>
        </p:txBody>
      </p:sp>
      <p:sp>
        <p:nvSpPr>
          <p:cNvPr id="4" name="In place card"/>
          <p:cNvSpPr/>
          <p:nvPr/>
        </p:nvSpPr>
        <p:spPr>
          <a:xfrm>
            <a:off x="548640" y="1508760"/>
            <a:ext cx="5440680" cy="3840480"/>
          </a:xfrm>
          <a:prstGeom prst="roundRect">
            <a:avLst>
              <a:gd name="adj" fmla="val 1905"/>
            </a:avLst>
          </a:prstGeom>
          <a:solidFill>
            <a:schemeClr val="bg2"/>
          </a:solidFill>
          <a:ln w="12700">
            <a:solidFill>
              <a:schemeClr val="bg2"/>
            </a:solidFill>
            <a:prstDash val="solid"/>
          </a:ln>
        </p:spPr>
      </p:sp>
      <p:sp>
        <p:nvSpPr>
          <p:cNvPr id="5" name="In place icon circle"/>
          <p:cNvSpPr/>
          <p:nvPr/>
        </p:nvSpPr>
        <p:spPr>
          <a:xfrm>
            <a:off x="822960" y="1737360"/>
            <a:ext cx="640080" cy="640080"/>
          </a:xfrm>
          <a:prstGeom prst="ellipse">
            <a:avLst/>
          </a:prstGeom>
          <a:solidFill>
            <a:schemeClr val="accent4"/>
          </a:solidFill>
          <a:ln w="12700">
            <a:solidFill>
              <a:schemeClr val="accent4"/>
            </a:solidFill>
            <a:prstDash val="solid"/>
          </a:ln>
        </p:spPr>
      </p:sp>
      <p:pic>
        <p:nvPicPr>
          <p:cNvPr id="6" name="Image 0" descr="In place">    </p:cNvPr>
          <p:cNvPicPr>
            <a:picLocks noChangeAspect="1"/>
          </p:cNvPicPr>
          <p:nvPr/>
        </p:nvPicPr>
        <p:blipFill>
          <a:blip r:embed="rId1"/>
          <a:stretch>
            <a:fillRect/>
          </a:stretch>
        </p:blipFill>
        <p:spPr>
          <a:xfrm>
            <a:off x="982980" y="1897380"/>
            <a:ext cx="320040" cy="320040"/>
          </a:xfrm>
          <a:prstGeom prst="rect">
            <a:avLst/>
          </a:prstGeom>
        </p:spPr>
      </p:pic>
      <p:sp>
        <p:nvSpPr>
          <p:cNvPr id="7" name="In place heading"/>
          <p:cNvSpPr txBox="1"/>
          <p:nvPr/>
        </p:nvSpPr>
        <p:spPr>
          <a:xfrm>
            <a:off x="1645920" y="1737360"/>
            <a:ext cx="4114800" cy="640080"/>
          </a:xfrm>
          <a:prstGeom prst="rect">
            <a:avLst/>
          </a:prstGeom>
          <a:noFill/>
          <a:ln/>
        </p:spPr>
        <p:txBody>
          <a:bodyPr wrap="square" lIns="0" tIns="0" rIns="0" bIns="0" rtlCol="0" anchor="ctr"/>
          <a:lstStyle/>
          <a:p>
            <a:pPr indent="0" marL="0">
              <a:buNone/>
            </a:pPr>
            <a:r>
              <a:rPr lang="en-US" sz="2200" b="1" dirty="0">
                <a:solidFill>
                  <a:schemeClr val="tx2"/>
                </a:solidFill>
              </a:rPr>
              <a:t>In place</a:t>
            </a:r>
            <a:endParaRPr lang="en-US" sz="2200" dirty="0"/>
          </a:p>
        </p:txBody>
      </p:sp>
      <p:sp>
        <p:nvSpPr>
          <p:cNvPr id="8" name="In place list"/>
          <p:cNvSpPr txBox="1"/>
          <p:nvPr/>
        </p:nvSpPr>
        <p:spPr>
          <a:xfrm>
            <a:off x="914400" y="2651760"/>
            <a:ext cx="475488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Runs locally, no external service</a:t>
            </a:r>
            <a:endParaRPr lang="en-US" sz="1800" dirty="0"/>
          </a:p>
          <a:p>
            <a:pPr marL="342900" indent="-342900">
              <a:spcAft>
                <a:spcPts val="800"/>
              </a:spcAft>
              <a:buSzPct val="100000"/>
              <a:buChar char="•"/>
            </a:pPr>
            <a:r>
              <a:rPr lang="en-US" sz="1800" dirty="0">
                <a:solidFill>
                  <a:schemeClr val="tx1"/>
                </a:solidFill>
              </a:rPr>
              <a:t>Saved passwords encrypted at rest</a:t>
            </a:r>
            <a:endParaRPr lang="en-US" sz="1800" dirty="0"/>
          </a:p>
          <a:p>
            <a:pPr marL="342900" indent="-342900">
              <a:spcAft>
                <a:spcPts val="800"/>
              </a:spcAft>
              <a:buSzPct val="100000"/>
              <a:buChar char="•"/>
            </a:pPr>
            <a:r>
              <a:rPr lang="en-US" sz="1800" dirty="0">
                <a:solidFill>
                  <a:schemeClr val="tx1"/>
                </a:solidFill>
              </a:rPr>
              <a:t>No passwords in any report</a:t>
            </a:r>
            <a:endParaRPr lang="en-US" sz="1800" dirty="0"/>
          </a:p>
          <a:p>
            <a:pPr marL="342900" indent="-342900">
              <a:spcAft>
                <a:spcPts val="800"/>
              </a:spcAft>
              <a:buSzPct val="100000"/>
              <a:buChar char="•"/>
            </a:pPr>
            <a:r>
              <a:rPr lang="en-US" sz="1800" dirty="0">
                <a:solidFill>
                  <a:schemeClr val="tx1"/>
                </a:solidFill>
              </a:rPr>
              <a:t>Only SELECT / WITH queries run</a:t>
            </a:r>
            <a:endParaRPr lang="en-US" sz="1800" dirty="0"/>
          </a:p>
          <a:p>
            <a:pPr marL="342900" indent="-342900">
              <a:spcAft>
                <a:spcPts val="800"/>
              </a:spcAft>
              <a:buSzPct val="100000"/>
              <a:buChar char="•"/>
            </a:pPr>
            <a:r>
              <a:rPr lang="en-US" sz="1800" dirty="0">
                <a:solidFill>
                  <a:schemeClr val="tx1"/>
                </a:solidFill>
              </a:rPr>
              <a:t>Evidence: SQL, rules, hashes</a:t>
            </a:r>
            <a:endParaRPr lang="en-US" sz="1800" dirty="0"/>
          </a:p>
        </p:txBody>
      </p:sp>
      <p:sp>
        <p:nvSpPr>
          <p:cNvPr id="9" name="Not in this version card"/>
          <p:cNvSpPr/>
          <p:nvPr/>
        </p:nvSpPr>
        <p:spPr>
          <a:xfrm>
            <a:off x="6172200" y="1508760"/>
            <a:ext cx="5440680" cy="3840480"/>
          </a:xfrm>
          <a:prstGeom prst="roundRect">
            <a:avLst>
              <a:gd name="adj" fmla="val 1905"/>
            </a:avLst>
          </a:prstGeom>
          <a:solidFill>
            <a:schemeClr val="bg2"/>
          </a:solidFill>
          <a:ln w="12700">
            <a:solidFill>
              <a:schemeClr val="bg2"/>
            </a:solidFill>
            <a:prstDash val="solid"/>
          </a:ln>
        </p:spPr>
      </p:sp>
      <p:sp>
        <p:nvSpPr>
          <p:cNvPr id="10" name="Not in this version icon circle"/>
          <p:cNvSpPr/>
          <p:nvPr/>
        </p:nvSpPr>
        <p:spPr>
          <a:xfrm>
            <a:off x="6446520" y="1737360"/>
            <a:ext cx="640080" cy="640080"/>
          </a:xfrm>
          <a:prstGeom prst="ellipse">
            <a:avLst/>
          </a:prstGeom>
          <a:solidFill>
            <a:schemeClr val="accent6"/>
          </a:solidFill>
          <a:ln w="12700">
            <a:solidFill>
              <a:schemeClr val="accent6"/>
            </a:solidFill>
            <a:prstDash val="solid"/>
          </a:ln>
        </p:spPr>
      </p:sp>
      <p:pic>
        <p:nvPicPr>
          <p:cNvPr id="11" name="Image 1" descr="Not in this version">    </p:cNvPr>
          <p:cNvPicPr>
            <a:picLocks noChangeAspect="1"/>
          </p:cNvPicPr>
          <p:nvPr/>
        </p:nvPicPr>
        <p:blipFill>
          <a:blip r:embed="rId2"/>
          <a:stretch>
            <a:fillRect/>
          </a:stretch>
        </p:blipFill>
        <p:spPr>
          <a:xfrm>
            <a:off x="6606540" y="1897380"/>
            <a:ext cx="320040" cy="320040"/>
          </a:xfrm>
          <a:prstGeom prst="rect">
            <a:avLst/>
          </a:prstGeom>
        </p:spPr>
      </p:pic>
      <p:sp>
        <p:nvSpPr>
          <p:cNvPr id="12" name="Not in this version heading"/>
          <p:cNvSpPr txBox="1"/>
          <p:nvPr/>
        </p:nvSpPr>
        <p:spPr>
          <a:xfrm>
            <a:off x="7269480" y="1737360"/>
            <a:ext cx="4114800" cy="640080"/>
          </a:xfrm>
          <a:prstGeom prst="rect">
            <a:avLst/>
          </a:prstGeom>
          <a:noFill/>
          <a:ln/>
        </p:spPr>
        <p:txBody>
          <a:bodyPr wrap="square" lIns="0" tIns="0" rIns="0" bIns="0" rtlCol="0" anchor="ctr"/>
          <a:lstStyle/>
          <a:p>
            <a:pPr indent="0" marL="0">
              <a:buNone/>
            </a:pPr>
            <a:r>
              <a:rPr lang="en-US" sz="2200" b="1" dirty="0">
                <a:solidFill>
                  <a:schemeClr val="tx2"/>
                </a:solidFill>
              </a:rPr>
              <a:t>Not in this version</a:t>
            </a:r>
            <a:endParaRPr lang="en-US" sz="2200" dirty="0"/>
          </a:p>
        </p:txBody>
      </p:sp>
      <p:sp>
        <p:nvSpPr>
          <p:cNvPr id="13" name="Not in this version list"/>
          <p:cNvSpPr txBox="1"/>
          <p:nvPr/>
        </p:nvSpPr>
        <p:spPr>
          <a:xfrm>
            <a:off x="6537960" y="2651760"/>
            <a:ext cx="475488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Scheduling and notifications</a:t>
            </a:r>
            <a:endParaRPr lang="en-US" sz="1800" dirty="0"/>
          </a:p>
          <a:p>
            <a:pPr marL="342900" indent="-342900">
              <a:spcAft>
                <a:spcPts val="800"/>
              </a:spcAft>
              <a:buSzPct val="100000"/>
              <a:buChar char="•"/>
            </a:pPr>
            <a:r>
              <a:rPr lang="en-US" sz="1800" dirty="0">
                <a:solidFill>
                  <a:schemeClr val="tx1"/>
                </a:solidFill>
              </a:rPr>
              <a:t>Referential-integrity (orphan) checks</a:t>
            </a:r>
            <a:endParaRPr lang="en-US" sz="1800" dirty="0"/>
          </a:p>
          <a:p>
            <a:pPr marL="342900" indent="-342900">
              <a:spcAft>
                <a:spcPts val="800"/>
              </a:spcAft>
              <a:buSzPct val="100000"/>
              <a:buChar char="•"/>
            </a:pPr>
            <a:r>
              <a:rPr lang="en-US" sz="1800" dirty="0">
                <a:solidFill>
                  <a:schemeClr val="tx1"/>
                </a:solidFill>
              </a:rPr>
              <a:t>Declared catalog types and precision</a:t>
            </a:r>
            <a:endParaRPr lang="en-US" sz="1800" dirty="0"/>
          </a:p>
          <a:p>
            <a:pPr marL="342900" indent="-342900">
              <a:spcAft>
                <a:spcPts val="800"/>
              </a:spcAft>
              <a:buSzPct val="100000"/>
              <a:buChar char="•"/>
            </a:pPr>
            <a:r>
              <a:rPr lang="en-US" sz="1800" dirty="0">
                <a:solidFill>
                  <a:schemeClr val="tx1"/>
                </a:solidFill>
              </a:rPr>
              <a:t>Multi-user server deployment</a:t>
            </a:r>
            <a:endParaRPr lang="en-US" sz="18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Live demo: from load to evidence</a:t>
            </a:r>
            <a:endParaRPr lang="en-US" sz="3200" dirty="0"/>
          </a:p>
        </p:txBody>
      </p:sp>
      <p:sp>
        <p:nvSpPr>
          <p:cNvPr id="4" name="Step 1 circle"/>
          <p:cNvSpPr/>
          <p:nvPr/>
        </p:nvSpPr>
        <p:spPr>
          <a:xfrm>
            <a:off x="548640" y="1645920"/>
            <a:ext cx="731520" cy="731520"/>
          </a:xfrm>
          <a:prstGeom prst="ellipse">
            <a:avLst/>
          </a:prstGeom>
          <a:solidFill>
            <a:schemeClr val="accent1"/>
          </a:solidFill>
          <a:ln w="12700">
            <a:solidFill>
              <a:schemeClr val="accent1"/>
            </a:solidFill>
            <a:prstDash val="solid"/>
          </a:ln>
        </p:spPr>
      </p:sp>
      <p:sp>
        <p:nvSpPr>
          <p:cNvPr id="5" name="Step 1 number"/>
          <p:cNvSpPr txBox="1"/>
          <p:nvPr/>
        </p:nvSpPr>
        <p:spPr>
          <a:xfrm>
            <a:off x="54864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Step 1 text"/>
          <p:cNvSpPr txBox="1"/>
          <p:nvPr/>
        </p:nvSpPr>
        <p:spPr>
          <a:xfrm>
            <a:off x="1463040" y="1600200"/>
            <a:ext cx="2606040" cy="1280160"/>
          </a:xfrm>
          <a:prstGeom prst="rect">
            <a:avLst/>
          </a:prstGeom>
          <a:noFill/>
          <a:ln/>
        </p:spPr>
        <p:txBody>
          <a:bodyPr wrap="square" lIns="0" tIns="0" rIns="0" bIns="0" rtlCol="0" anchor="t"/>
          <a:lstStyle/>
          <a:p>
            <a:pPr indent="0" marL="0">
              <a:buNone/>
            </a:pPr>
            <a:r>
              <a:rPr lang="en-US" sz="2000" b="1" dirty="0">
                <a:solidFill>
                  <a:schemeClr val="tx2"/>
                </a:solidFill>
              </a:rPr>
              <a:t>Connect</a:t>
            </a:r>
            <a:endParaRPr lang="en-US" sz="2000" dirty="0"/>
          </a:p>
          <a:p>
            <a:pPr indent="0" marL="0">
              <a:buNone/>
            </a:pPr>
            <a:r>
              <a:rPr lang="en-US" sz="1400" dirty="0">
                <a:solidFill>
                  <a:schemeClr val="tx1"/>
                </a:solidFill>
              </a:rPr>
              <a:t>Saved connection, encrypted password</a:t>
            </a:r>
            <a:endParaRPr lang="en-US" sz="2000" dirty="0"/>
          </a:p>
        </p:txBody>
      </p:sp>
      <p:sp>
        <p:nvSpPr>
          <p:cNvPr id="7" name="Step 2 circle"/>
          <p:cNvSpPr/>
          <p:nvPr/>
        </p:nvSpPr>
        <p:spPr>
          <a:xfrm>
            <a:off x="4297680" y="1645920"/>
            <a:ext cx="731520" cy="731520"/>
          </a:xfrm>
          <a:prstGeom prst="ellipse">
            <a:avLst/>
          </a:prstGeom>
          <a:solidFill>
            <a:schemeClr val="accent1"/>
          </a:solidFill>
          <a:ln w="12700">
            <a:solidFill>
              <a:schemeClr val="accent1"/>
            </a:solidFill>
            <a:prstDash val="solid"/>
          </a:ln>
        </p:spPr>
      </p:sp>
      <p:sp>
        <p:nvSpPr>
          <p:cNvPr id="8" name="Step 2 number"/>
          <p:cNvSpPr txBox="1"/>
          <p:nvPr/>
        </p:nvSpPr>
        <p:spPr>
          <a:xfrm>
            <a:off x="429768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Step 2 text"/>
          <p:cNvSpPr txBox="1"/>
          <p:nvPr/>
        </p:nvSpPr>
        <p:spPr>
          <a:xfrm>
            <a:off x="5212080" y="1600200"/>
            <a:ext cx="2606040" cy="1280160"/>
          </a:xfrm>
          <a:prstGeom prst="rect">
            <a:avLst/>
          </a:prstGeom>
          <a:noFill/>
          <a:ln/>
        </p:spPr>
        <p:txBody>
          <a:bodyPr wrap="square" lIns="0" tIns="0" rIns="0" bIns="0" rtlCol="0" anchor="t"/>
          <a:lstStyle/>
          <a:p>
            <a:pPr indent="0" marL="0">
              <a:buNone/>
            </a:pPr>
            <a:r>
              <a:rPr lang="en-US" sz="2000" b="1" dirty="0">
                <a:solidFill>
                  <a:schemeClr val="tx2"/>
                </a:solidFill>
              </a:rPr>
              <a:t>Load</a:t>
            </a:r>
            <a:endParaRPr lang="en-US" sz="2000" dirty="0"/>
          </a:p>
          <a:p>
            <a:pPr indent="0" marL="0">
              <a:buNone/>
            </a:pPr>
            <a:r>
              <a:rPr lang="en-US" sz="1400" dirty="0">
                <a:solidFill>
                  <a:schemeClr val="tx1"/>
                </a:solidFill>
              </a:rPr>
              <a:t>Source and target as file or SQL</a:t>
            </a:r>
            <a:endParaRPr lang="en-US" sz="2000" dirty="0"/>
          </a:p>
        </p:txBody>
      </p:sp>
      <p:sp>
        <p:nvSpPr>
          <p:cNvPr id="10" name="Step 3 circle"/>
          <p:cNvSpPr/>
          <p:nvPr/>
        </p:nvSpPr>
        <p:spPr>
          <a:xfrm>
            <a:off x="8046720" y="1645920"/>
            <a:ext cx="731520" cy="731520"/>
          </a:xfrm>
          <a:prstGeom prst="ellipse">
            <a:avLst/>
          </a:prstGeom>
          <a:solidFill>
            <a:schemeClr val="accent1"/>
          </a:solidFill>
          <a:ln w="12700">
            <a:solidFill>
              <a:schemeClr val="accent1"/>
            </a:solidFill>
            <a:prstDash val="solid"/>
          </a:ln>
        </p:spPr>
      </p:sp>
      <p:sp>
        <p:nvSpPr>
          <p:cNvPr id="11" name="Step 3 number"/>
          <p:cNvSpPr txBox="1"/>
          <p:nvPr/>
        </p:nvSpPr>
        <p:spPr>
          <a:xfrm>
            <a:off x="804672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2" name="Step 3 text"/>
          <p:cNvSpPr txBox="1"/>
          <p:nvPr/>
        </p:nvSpPr>
        <p:spPr>
          <a:xfrm>
            <a:off x="8961120" y="1600200"/>
            <a:ext cx="2606040" cy="1280160"/>
          </a:xfrm>
          <a:prstGeom prst="rect">
            <a:avLst/>
          </a:prstGeom>
          <a:noFill/>
          <a:ln/>
        </p:spPr>
        <p:txBody>
          <a:bodyPr wrap="square" lIns="0" tIns="0" rIns="0" bIns="0" rtlCol="0" anchor="t"/>
          <a:lstStyle/>
          <a:p>
            <a:pPr indent="0" marL="0">
              <a:buNone/>
            </a:pPr>
            <a:r>
              <a:rPr lang="en-US" sz="2000" b="1" dirty="0">
                <a:solidFill>
                  <a:schemeClr val="tx2"/>
                </a:solidFill>
              </a:rPr>
              <a:t>Set rules</a:t>
            </a:r>
            <a:endParaRPr lang="en-US" sz="2000" dirty="0"/>
          </a:p>
          <a:p>
            <a:pPr indent="0" marL="0">
              <a:buNone/>
            </a:pPr>
            <a:r>
              <a:rPr lang="en-US" sz="1400" dirty="0">
                <a:solidFill>
                  <a:schemeClr val="tx1"/>
                </a:solidFill>
              </a:rPr>
              <a:t>Key, ignored columns, NULL tokens</a:t>
            </a:r>
            <a:endParaRPr lang="en-US" sz="2000" dirty="0"/>
          </a:p>
        </p:txBody>
      </p:sp>
      <p:sp>
        <p:nvSpPr>
          <p:cNvPr id="13" name="Step 4 circle"/>
          <p:cNvSpPr/>
          <p:nvPr/>
        </p:nvSpPr>
        <p:spPr>
          <a:xfrm>
            <a:off x="548640" y="3749040"/>
            <a:ext cx="731520" cy="731520"/>
          </a:xfrm>
          <a:prstGeom prst="ellipse">
            <a:avLst/>
          </a:prstGeom>
          <a:solidFill>
            <a:schemeClr val="accent1"/>
          </a:solidFill>
          <a:ln w="12700">
            <a:solidFill>
              <a:schemeClr val="accent1"/>
            </a:solidFill>
            <a:prstDash val="solid"/>
          </a:ln>
        </p:spPr>
      </p:sp>
      <p:sp>
        <p:nvSpPr>
          <p:cNvPr id="14" name="Step 4 number"/>
          <p:cNvSpPr txBox="1"/>
          <p:nvPr/>
        </p:nvSpPr>
        <p:spPr>
          <a:xfrm>
            <a:off x="548640" y="37490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5" name="Step 4 text"/>
          <p:cNvSpPr txBox="1"/>
          <p:nvPr/>
        </p:nvSpPr>
        <p:spPr>
          <a:xfrm>
            <a:off x="1463040" y="3703320"/>
            <a:ext cx="2606040" cy="1280160"/>
          </a:xfrm>
          <a:prstGeom prst="rect">
            <a:avLst/>
          </a:prstGeom>
          <a:noFill/>
          <a:ln/>
        </p:spPr>
        <p:txBody>
          <a:bodyPr wrap="square" lIns="0" tIns="0" rIns="0" bIns="0" rtlCol="0" anchor="t"/>
          <a:lstStyle/>
          <a:p>
            <a:pPr indent="0" marL="0">
              <a:buNone/>
            </a:pPr>
            <a:r>
              <a:rPr lang="en-US" sz="2000" b="1" dirty="0">
                <a:solidFill>
                  <a:schemeClr val="tx2"/>
                </a:solidFill>
              </a:rPr>
              <a:t>Compare</a:t>
            </a:r>
            <a:endParaRPr lang="en-US" sz="2000" dirty="0"/>
          </a:p>
          <a:p>
            <a:pPr indent="0" marL="0">
              <a:buNone/>
            </a:pPr>
            <a:r>
              <a:rPr lang="en-US" sz="1400" dirty="0">
                <a:solidFill>
                  <a:schemeClr val="tx1"/>
                </a:solidFill>
              </a:rPr>
              <a:t>Checks, causes, row-level status</a:t>
            </a:r>
            <a:endParaRPr lang="en-US" sz="2000" dirty="0"/>
          </a:p>
        </p:txBody>
      </p:sp>
      <p:sp>
        <p:nvSpPr>
          <p:cNvPr id="16" name="Step 5 circle"/>
          <p:cNvSpPr/>
          <p:nvPr/>
        </p:nvSpPr>
        <p:spPr>
          <a:xfrm>
            <a:off x="4297680" y="3749040"/>
            <a:ext cx="731520" cy="731520"/>
          </a:xfrm>
          <a:prstGeom prst="ellipse">
            <a:avLst/>
          </a:prstGeom>
          <a:solidFill>
            <a:schemeClr val="accent1"/>
          </a:solidFill>
          <a:ln w="12700">
            <a:solidFill>
              <a:schemeClr val="accent1"/>
            </a:solidFill>
            <a:prstDash val="solid"/>
          </a:ln>
        </p:spPr>
      </p:sp>
      <p:sp>
        <p:nvSpPr>
          <p:cNvPr id="17" name="Step 5 number"/>
          <p:cNvSpPr txBox="1"/>
          <p:nvPr/>
        </p:nvSpPr>
        <p:spPr>
          <a:xfrm>
            <a:off x="4297680" y="37490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18" name="Step 5 text"/>
          <p:cNvSpPr txBox="1"/>
          <p:nvPr/>
        </p:nvSpPr>
        <p:spPr>
          <a:xfrm>
            <a:off x="5212080" y="3703320"/>
            <a:ext cx="2606040" cy="1280160"/>
          </a:xfrm>
          <a:prstGeom prst="rect">
            <a:avLst/>
          </a:prstGeom>
          <a:noFill/>
          <a:ln/>
        </p:spPr>
        <p:txBody>
          <a:bodyPr wrap="square" lIns="0" tIns="0" rIns="0" bIns="0" rtlCol="0" anchor="t"/>
          <a:lstStyle/>
          <a:p>
            <a:pPr indent="0" marL="0">
              <a:buNone/>
            </a:pPr>
            <a:r>
              <a:rPr lang="en-US" sz="2000" b="1" dirty="0">
                <a:solidFill>
                  <a:schemeClr val="tx2"/>
                </a:solidFill>
              </a:rPr>
              <a:t>Drill in</a:t>
            </a:r>
            <a:endParaRPr lang="en-US" sz="2000" dirty="0"/>
          </a:p>
          <a:p>
            <a:pPr indent="0" marL="0">
              <a:buNone/>
            </a:pPr>
            <a:r>
              <a:rPr lang="en-US" sz="1400" dirty="0">
                <a:solidFill>
                  <a:schemeClr val="tx1"/>
                </a:solidFill>
              </a:rPr>
              <a:t>Duplicates, NULLs, aggregations</a:t>
            </a:r>
            <a:endParaRPr lang="en-US" sz="2000" dirty="0"/>
          </a:p>
        </p:txBody>
      </p:sp>
      <p:sp>
        <p:nvSpPr>
          <p:cNvPr id="19" name="Step 6 circle"/>
          <p:cNvSpPr/>
          <p:nvPr/>
        </p:nvSpPr>
        <p:spPr>
          <a:xfrm>
            <a:off x="8046720" y="3749040"/>
            <a:ext cx="731520" cy="731520"/>
          </a:xfrm>
          <a:prstGeom prst="ellipse">
            <a:avLst/>
          </a:prstGeom>
          <a:solidFill>
            <a:schemeClr val="accent1"/>
          </a:solidFill>
          <a:ln w="12700">
            <a:solidFill>
              <a:schemeClr val="accent1"/>
            </a:solidFill>
            <a:prstDash val="solid"/>
          </a:ln>
        </p:spPr>
      </p:sp>
      <p:sp>
        <p:nvSpPr>
          <p:cNvPr id="20" name="Step 6 number"/>
          <p:cNvSpPr txBox="1"/>
          <p:nvPr/>
        </p:nvSpPr>
        <p:spPr>
          <a:xfrm>
            <a:off x="8046720" y="37490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21" name="Step 6 text"/>
          <p:cNvSpPr txBox="1"/>
          <p:nvPr/>
        </p:nvSpPr>
        <p:spPr>
          <a:xfrm>
            <a:off x="8961120" y="3703320"/>
            <a:ext cx="2606040" cy="1280160"/>
          </a:xfrm>
          <a:prstGeom prst="rect">
            <a:avLst/>
          </a:prstGeom>
          <a:noFill/>
          <a:ln/>
        </p:spPr>
        <p:txBody>
          <a:bodyPr wrap="square" lIns="0" tIns="0" rIns="0" bIns="0" rtlCol="0" anchor="t"/>
          <a:lstStyle/>
          <a:p>
            <a:pPr indent="0" marL="0">
              <a:buNone/>
            </a:pPr>
            <a:r>
              <a:rPr lang="en-US" sz="2000" b="1" dirty="0">
                <a:solidFill>
                  <a:schemeClr val="tx2"/>
                </a:solidFill>
              </a:rPr>
              <a:t>Evidence</a:t>
            </a:r>
            <a:endParaRPr lang="en-US" sz="2000" dirty="0"/>
          </a:p>
          <a:p>
            <a:pPr indent="0" marL="0">
              <a:buNone/>
            </a:pPr>
            <a:r>
              <a:rPr lang="en-US" sz="1400" dirty="0">
                <a:solidFill>
                  <a:schemeClr val="tx1"/>
                </a:solidFill>
              </a:rPr>
              <a:t>Both SQL statements, HTML and Excel</a:t>
            </a:r>
            <a:endParaRPr lang="en-US" sz="20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Proposed next steps</a:t>
            </a:r>
            <a:endParaRPr lang="en-US" sz="3200" dirty="0"/>
          </a:p>
        </p:txBody>
      </p:sp>
      <p:sp>
        <p:nvSpPr>
          <p:cNvPr id="4" name="Next step 1 circle"/>
          <p:cNvSpPr/>
          <p:nvPr/>
        </p:nvSpPr>
        <p:spPr>
          <a:xfrm>
            <a:off x="548640" y="1645920"/>
            <a:ext cx="685800" cy="685800"/>
          </a:xfrm>
          <a:prstGeom prst="ellipse">
            <a:avLst/>
          </a:prstGeom>
          <a:solidFill>
            <a:schemeClr val="accent2"/>
          </a:solidFill>
          <a:ln w="12700">
            <a:solidFill>
              <a:schemeClr val="accent2"/>
            </a:solidFill>
            <a:prstDash val="solid"/>
          </a:ln>
        </p:spPr>
      </p:sp>
      <p:sp>
        <p:nvSpPr>
          <p:cNvPr id="5" name="Next step 1 number"/>
          <p:cNvSpPr txBox="1"/>
          <p:nvPr/>
        </p:nvSpPr>
        <p:spPr>
          <a:xfrm>
            <a:off x="548640" y="1645920"/>
            <a:ext cx="685800" cy="68580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6" name="Next step 1 text"/>
          <p:cNvSpPr txBox="1"/>
          <p:nvPr/>
        </p:nvSpPr>
        <p:spPr>
          <a:xfrm>
            <a:off x="1554480" y="1645920"/>
            <a:ext cx="9601200" cy="685800"/>
          </a:xfrm>
          <a:prstGeom prst="rect">
            <a:avLst/>
          </a:prstGeom>
          <a:noFill/>
          <a:ln/>
        </p:spPr>
        <p:txBody>
          <a:bodyPr wrap="square" lIns="0" tIns="0" rIns="0" bIns="0" rtlCol="0" anchor="ctr"/>
          <a:lstStyle/>
          <a:p>
            <a:pPr indent="0" marL="0">
              <a:buNone/>
            </a:pPr>
            <a:r>
              <a:rPr lang="en-US" sz="2200" dirty="0">
                <a:solidFill>
                  <a:schemeClr val="bg1"/>
                </a:solidFill>
              </a:rPr>
              <a:t>Pilot on the next migration wave</a:t>
            </a:r>
            <a:endParaRPr lang="en-US" sz="2200" dirty="0"/>
          </a:p>
        </p:txBody>
      </p:sp>
      <p:sp>
        <p:nvSpPr>
          <p:cNvPr id="7" name="Next step 2 circle"/>
          <p:cNvSpPr/>
          <p:nvPr/>
        </p:nvSpPr>
        <p:spPr>
          <a:xfrm>
            <a:off x="548640" y="2697480"/>
            <a:ext cx="685800" cy="685800"/>
          </a:xfrm>
          <a:prstGeom prst="ellipse">
            <a:avLst/>
          </a:prstGeom>
          <a:solidFill>
            <a:schemeClr val="accent2"/>
          </a:solidFill>
          <a:ln w="12700">
            <a:solidFill>
              <a:schemeClr val="accent2"/>
            </a:solidFill>
            <a:prstDash val="solid"/>
          </a:ln>
        </p:spPr>
      </p:sp>
      <p:sp>
        <p:nvSpPr>
          <p:cNvPr id="8" name="Next step 2 number"/>
          <p:cNvSpPr txBox="1"/>
          <p:nvPr/>
        </p:nvSpPr>
        <p:spPr>
          <a:xfrm>
            <a:off x="548640" y="2697480"/>
            <a:ext cx="685800" cy="68580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9" name="Next step 2 text"/>
          <p:cNvSpPr txBox="1"/>
          <p:nvPr/>
        </p:nvSpPr>
        <p:spPr>
          <a:xfrm>
            <a:off x="1554480" y="2697480"/>
            <a:ext cx="9601200" cy="685800"/>
          </a:xfrm>
          <a:prstGeom prst="rect">
            <a:avLst/>
          </a:prstGeom>
          <a:noFill/>
          <a:ln/>
        </p:spPr>
        <p:txBody>
          <a:bodyPr wrap="square" lIns="0" tIns="0" rIns="0" bIns="0" rtlCol="0" anchor="ctr"/>
          <a:lstStyle/>
          <a:p>
            <a:pPr indent="0" marL="0">
              <a:buNone/>
            </a:pPr>
            <a:r>
              <a:rPr lang="en-US" sz="2200" dirty="0">
                <a:solidFill>
                  <a:schemeClr val="bg1"/>
                </a:solidFill>
              </a:rPr>
              <a:t>Agree rule sets per table: keys, ignored columns, tolerances</a:t>
            </a:r>
            <a:endParaRPr lang="en-US" sz="2200" dirty="0"/>
          </a:p>
        </p:txBody>
      </p:sp>
      <p:sp>
        <p:nvSpPr>
          <p:cNvPr id="10" name="Next step 3 circle"/>
          <p:cNvSpPr/>
          <p:nvPr/>
        </p:nvSpPr>
        <p:spPr>
          <a:xfrm>
            <a:off x="548640" y="3749040"/>
            <a:ext cx="685800" cy="685800"/>
          </a:xfrm>
          <a:prstGeom prst="ellipse">
            <a:avLst/>
          </a:prstGeom>
          <a:solidFill>
            <a:schemeClr val="accent2"/>
          </a:solidFill>
          <a:ln w="12700">
            <a:solidFill>
              <a:schemeClr val="accent2"/>
            </a:solidFill>
            <a:prstDash val="solid"/>
          </a:ln>
        </p:spPr>
      </p:sp>
      <p:sp>
        <p:nvSpPr>
          <p:cNvPr id="11" name="Next step 3 number"/>
          <p:cNvSpPr txBox="1"/>
          <p:nvPr/>
        </p:nvSpPr>
        <p:spPr>
          <a:xfrm>
            <a:off x="548640" y="3749040"/>
            <a:ext cx="685800" cy="68580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2" name="Next step 3 text"/>
          <p:cNvSpPr txBox="1"/>
          <p:nvPr/>
        </p:nvSpPr>
        <p:spPr>
          <a:xfrm>
            <a:off x="1554480" y="3749040"/>
            <a:ext cx="9601200" cy="685800"/>
          </a:xfrm>
          <a:prstGeom prst="rect">
            <a:avLst/>
          </a:prstGeom>
          <a:noFill/>
          <a:ln/>
        </p:spPr>
        <p:txBody>
          <a:bodyPr wrap="square" lIns="0" tIns="0" rIns="0" bIns="0" rtlCol="0" anchor="ctr"/>
          <a:lstStyle/>
          <a:p>
            <a:pPr indent="0" marL="0">
              <a:buNone/>
            </a:pPr>
            <a:r>
              <a:rPr lang="en-US" sz="2200" dirty="0">
                <a:solidFill>
                  <a:schemeClr val="bg1"/>
                </a:solidFill>
              </a:rPr>
              <a:t>Add the evidence report to the sign-off checklist</a:t>
            </a:r>
            <a:endParaRPr lang="en-US" sz="2200" dirty="0"/>
          </a:p>
        </p:txBody>
      </p:sp>
      <p:sp>
        <p:nvSpPr>
          <p:cNvPr id="13" name="Next step 4 circle"/>
          <p:cNvSpPr/>
          <p:nvPr/>
        </p:nvSpPr>
        <p:spPr>
          <a:xfrm>
            <a:off x="548640" y="4800600"/>
            <a:ext cx="685800" cy="685800"/>
          </a:xfrm>
          <a:prstGeom prst="ellipse">
            <a:avLst/>
          </a:prstGeom>
          <a:solidFill>
            <a:schemeClr val="accent2"/>
          </a:solidFill>
          <a:ln w="12700">
            <a:solidFill>
              <a:schemeClr val="accent2"/>
            </a:solidFill>
            <a:prstDash val="solid"/>
          </a:ln>
        </p:spPr>
      </p:sp>
      <p:sp>
        <p:nvSpPr>
          <p:cNvPr id="14" name="Next step 4 number"/>
          <p:cNvSpPr txBox="1"/>
          <p:nvPr/>
        </p:nvSpPr>
        <p:spPr>
          <a:xfrm>
            <a:off x="548640" y="4800600"/>
            <a:ext cx="685800" cy="68580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15" name="Next step 4 text"/>
          <p:cNvSpPr txBox="1"/>
          <p:nvPr/>
        </p:nvSpPr>
        <p:spPr>
          <a:xfrm>
            <a:off x="1554480" y="4800600"/>
            <a:ext cx="9601200" cy="685800"/>
          </a:xfrm>
          <a:prstGeom prst="rect">
            <a:avLst/>
          </a:prstGeom>
          <a:noFill/>
          <a:ln/>
        </p:spPr>
        <p:txBody>
          <a:bodyPr wrap="square" lIns="0" tIns="0" rIns="0" bIns="0" rtlCol="0" anchor="ctr"/>
          <a:lstStyle/>
          <a:p>
            <a:pPr indent="0" marL="0">
              <a:buNone/>
            </a:pPr>
            <a:r>
              <a:rPr lang="en-US" sz="2200" dirty="0">
                <a:solidFill>
                  <a:schemeClr val="bg1"/>
                </a:solidFill>
              </a:rPr>
              <a:t>Agree evidence retention and ownership</a:t>
            </a:r>
            <a:endParaRPr lang="en-US" sz="22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DataRecon Client Deck">
  <a:themeElements>
    <a:clrScheme name="DataRecon Client Deck">
      <a:dk1>
        <a:srgbClr val="1B2430"/>
      </a:dk1>
      <a:lt1>
        <a:srgbClr val="FFFFFF"/>
      </a:lt1>
      <a:dk2>
        <a:srgbClr val="0B3C49"/>
      </a:dk2>
      <a:lt2>
        <a:srgbClr val="EAF1F3"/>
      </a:lt2>
      <a:accent1>
        <a:srgbClr val="0E7C86"/>
      </a:accent1>
      <a:accent2>
        <a:srgbClr val="F2A541"/>
      </a:accent2>
      <a:accent3>
        <a:srgbClr val="C8414B"/>
      </a:accent3>
      <a:accent4>
        <a:srgbClr val="2E9E6B"/>
      </a:accent4>
      <a:accent5>
        <a:srgbClr val="5B6C8F"/>
      </a:accent5>
      <a:accent6>
        <a:srgbClr val="7A8794"/>
      </a:accent6>
      <a:hlink>
        <a:srgbClr val="0E7C86"/>
      </a:hlink>
      <a:folHlink>
        <a:srgbClr val="5B6C8F"/>
      </a:folHlink>
    </a:clrScheme>
    <a:fontScheme name="DataRecon Client D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DataRecon - Data migration validation and evidence</dc:title>
  <dc:subject>PptxGenJS Presentation</dc:subject>
  <dc:creator>DataRecon</dc:creator>
  <cp:lastModifiedBy>DataRecon</cp:lastModifiedBy>
  <cp:revision>1</cp:revision>
  <dcterms:created xsi:type="dcterms:W3CDTF">2026-10-27T08:57:16Z</dcterms:created>
  <dcterms:modified xsi:type="dcterms:W3CDTF">2026-10-27T08:57:16Z</dcterms:modified>
</cp:coreProperties>
</file>